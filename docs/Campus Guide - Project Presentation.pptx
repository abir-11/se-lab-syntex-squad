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30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502920"/>
            <a:ext cx="2103120" cy="2103120"/>
          </a:xfrm>
          <a:prstGeom prst="ellipse">
            <a:avLst/>
          </a:prstGeom>
          <a:ln w="28575">
            <a:solidFill>
              <a:srgbClr val="244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1051560"/>
            <a:ext cx="2103120" cy="2103120"/>
          </a:xfrm>
          <a:prstGeom prst="ellipse">
            <a:avLst/>
          </a:prstGeom>
          <a:ln w="28575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1874520"/>
            <a:ext cx="2103120" cy="2103120"/>
          </a:xfrm>
          <a:prstGeom prst="ellipse">
            <a:avLst/>
          </a:prstGeom>
          <a:ln w="28575">
            <a:solidFill>
              <a:srgbClr val="1B3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UNIVERSITY  ·  DEPARTMENT OF CSE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Guide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290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Campus Life, Career Guidance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Peer-Mentored Academic Help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campus-verified login, three connected experiences: stay informed, choose a path, get mentored.”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5138928"/>
            <a:ext cx="1115568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5349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596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Syntex Squad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5349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Teacher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5596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Rejwan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Ahmed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5349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BASELINE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5596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v1.0 (Final) · September 2026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5349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5596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Implementation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C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CAMPUS GUIDE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A FRAGMENTED STUDENT EXPERIENCE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380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7" name="Image 0" descr="/home/claude/assets/icons/be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75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514600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6207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live across notice boards, websites and Facebook groups — easy to miss.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42132" y="1783080"/>
            <a:ext cx="26380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5012" y="1965960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2" name="Image 1" descr="/home/claude/assets/icons/compas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0756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5012" y="2514600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career advice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525012" y="286207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 students find is rarely specific to UIU courses or roles.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81344" y="1783080"/>
            <a:ext cx="26380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64224" y="1965960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7" name="Image 2" descr="/home/claude/assets/icons/sear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0756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4224" y="2514600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mentors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286207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trustworthy, course-specific peer mentor is largely word-of-mouth.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020556" y="1783080"/>
            <a:ext cx="26380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03436" y="1965960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22" name="Image 3" descr="/home/claude/assets/icons/credit-car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3164" y="20756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03436" y="2514600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payments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203436" y="286207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bKash transfers for tutoring offer no protection if a session fails.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 — FIVE COMMITMENTS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02920" y="416052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225296" y="4389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4" descr="/home/claude/assets/icons/layers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915" y="454273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2648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51663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594360" y="55321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information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770632" y="416052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493008" y="4389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Image 5" descr="/home/claude/assets/icons/target-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6627" y="454273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880360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2862072" y="51663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2862072" y="55321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5038344" y="416052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760720" y="4389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0" name="Image 6" descr="/home/claude/assets/icons/users-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339" y="454273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148072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5129784" y="51663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5129784" y="55321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mentors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7306056" y="416052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8028432" y="4389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6" name="Image 7" descr="/home/claude/assets/icons/lock-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2051" y="4542739"/>
            <a:ext cx="332842" cy="33284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415784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7397496" y="51663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7397496" y="55321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via bKash escrow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9573768" y="416052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10296144" y="4389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2" name="Image 8" descr="/home/claude/assets/icons/shield-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9763" y="4542739"/>
            <a:ext cx="332842" cy="33284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9683496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9665208" y="51663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350" dirty="0"/>
          </a:p>
        </p:txBody>
      </p:sp>
      <p:sp>
        <p:nvSpPr>
          <p:cNvPr id="55" name="Text 44"/>
          <p:cNvSpPr txBox="1"/>
          <p:nvPr/>
        </p:nvSpPr>
        <p:spPr>
          <a:xfrm>
            <a:off x="9665208" y="55321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ratings, oversight</a:t>
            </a:r>
            <a:endParaRPr lang="en-US" sz="950" dirty="0"/>
          </a:p>
        </p:txBody>
      </p:sp>
      <p:sp>
        <p:nvSpPr>
          <p:cNvPr id="56" name="Text 4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57" name="Text 46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Pillars, One Verified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35680" cy="397764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E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15640" y="1764792"/>
            <a:ext cx="566928" cy="56692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7" name="Image 0" descr="/home/claude/assets/icons/be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03" y="1900855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774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Info Hub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31520" y="2880360"/>
            <a:ext cx="307848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3044952"/>
            <a:ext cx="30236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circulars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calendar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achievements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grant calls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weather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2920" y="1508760"/>
            <a:ext cx="3535680" cy="397764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41520" y="1764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E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025640" y="1764792"/>
            <a:ext cx="566928" cy="56692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4" name="Image 1" descr="/home/claude/assets/icons/compas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703" y="190085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41520" y="23774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Finder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4541520" y="2880360"/>
            <a:ext cx="307848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68952" y="3044952"/>
            <a:ext cx="30236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/ job-preference assessment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matching &amp; match scores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certifications &amp; clubs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Mentor-session recommendations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22920" y="1508760"/>
            <a:ext cx="3535680" cy="397764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351520" y="1764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E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0835640" y="176479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2" descr="/home/claude/assets/icons/users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703" y="1900855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51520" y="23774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Mentor-Powered Help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8351520" y="2880360"/>
            <a:ext cx="307848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78952" y="3044952"/>
            <a:ext cx="30236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Course-code mentor search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senior / peer mentors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hourly pricing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booking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escrow protection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disputes &amp; refunds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2920" y="5669280"/>
            <a:ext cx="11155680" cy="566928"/>
          </a:xfrm>
          <a:prstGeom prst="roundRect">
            <a:avLst>
              <a:gd name="adj" fmla="val 14516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7512" y="5742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3" descr="/home/claude/assets/icons/shiel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62" y="5843382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3444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layer: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@uiu.ac.bd email verification  ·  mentor vetting  ·  ratings  ·  admin oversight  ·  trust &amp; safety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54480"/>
            <a:ext cx="384048" cy="38404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6" name="Image 0" descr="/home/claude/assets/icons/monito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03" y="1638971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61288" y="1527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7512" y="189280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Mobile Browser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89280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8328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SSR Pages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07608" y="189280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53328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35424" y="2253996"/>
            <a:ext cx="164592" cy="118872"/>
          </a:xfrm>
          <a:prstGeom prst="downArrow">
            <a:avLst/>
          </a:prstGeom>
          <a:solidFill>
            <a:srgbClr val="8FA3BF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" y="2386584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" y="2523744"/>
            <a:ext cx="384048" cy="38404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7" name="Image 1" descr="/home/claude/assets/icons/serve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03" y="2608235"/>
            <a:ext cx="215067" cy="215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61288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Next.js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67512" y="2862072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13232" y="286207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(SSR)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70048" y="2862072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715768" y="286207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Handlers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72584" y="2862072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718304" y="286207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+ RBAC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675120" y="2862072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720840" y="286207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35424" y="3314700"/>
            <a:ext cx="164592" cy="118872"/>
          </a:xfrm>
          <a:prstGeom prst="downArrow">
            <a:avLst/>
          </a:prstGeom>
          <a:solidFill>
            <a:srgbClr val="8FA3BF"/>
          </a:solidFill>
          <a:ln/>
        </p:spPr>
      </p:sp>
      <p:sp>
        <p:nvSpPr>
          <p:cNvPr id="28" name="Shape 24"/>
          <p:cNvSpPr/>
          <p:nvPr/>
        </p:nvSpPr>
        <p:spPr>
          <a:xfrm>
            <a:off x="502920" y="3447288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67512" y="3584448"/>
            <a:ext cx="384048" cy="38404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30" name="Image 2" descr="/home/claude/assets/icons/git-bran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03" y="3668939"/>
            <a:ext cx="215067" cy="21506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161288" y="35570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667512" y="39227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13232" y="3922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Hub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337560" y="39227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383280" y="3922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Matcher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007608" y="39227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053328" y="3922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Scheduling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67512" y="43799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713232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Orchestration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3337560" y="43799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383280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007608" y="4379976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053328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4535424" y="4878324"/>
            <a:ext cx="164592" cy="118872"/>
          </a:xfrm>
          <a:prstGeom prst="downArrow">
            <a:avLst/>
          </a:prstGeom>
          <a:solidFill>
            <a:srgbClr val="8FA3BF"/>
          </a:solidFill>
          <a:ln/>
        </p:spPr>
      </p:sp>
      <p:sp>
        <p:nvSpPr>
          <p:cNvPr id="45" name="Shape 40"/>
          <p:cNvSpPr/>
          <p:nvPr/>
        </p:nvSpPr>
        <p:spPr>
          <a:xfrm>
            <a:off x="502920" y="5010912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67512" y="5148072"/>
            <a:ext cx="384048" cy="384048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47" name="Image 3" descr="/home/claude/assets/icons/databas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03" y="5232563"/>
            <a:ext cx="215067" cy="215067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161288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49" name="Shape 43"/>
          <p:cNvSpPr/>
          <p:nvPr/>
        </p:nvSpPr>
        <p:spPr>
          <a:xfrm>
            <a:off x="667512" y="5486400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713232" y="5486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2670048" y="5486400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2715768" y="5486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672584" y="5486400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4718304" y="5486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675120" y="5486400"/>
            <a:ext cx="1892808" cy="36576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720840" y="5486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9326880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9326880" y="173736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9436608" y="1847088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0" name="Image 4" descr="/home/claude/assets/icons/credit-card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052" y="1923532"/>
            <a:ext cx="194584" cy="194584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9875520" y="17373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Merchant API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9326880" y="2450592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9436608" y="256032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4" name="Image 5" descr="/home/claude/assets/icons/map-pin-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3052" y="2636764"/>
            <a:ext cx="194584" cy="194584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9875520" y="24505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000" dirty="0"/>
          </a:p>
        </p:txBody>
      </p:sp>
      <p:sp>
        <p:nvSpPr>
          <p:cNvPr id="66" name="Shape 58"/>
          <p:cNvSpPr/>
          <p:nvPr/>
        </p:nvSpPr>
        <p:spPr>
          <a:xfrm>
            <a:off x="9326880" y="3163824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9436608" y="3273552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8" name="Image 6" descr="/home/claude/assets/icons/cloud-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3052" y="3349996"/>
            <a:ext cx="194584" cy="194584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9875520" y="316382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000" dirty="0"/>
          </a:p>
        </p:txBody>
      </p:sp>
      <p:sp>
        <p:nvSpPr>
          <p:cNvPr id="70" name="Shape 61"/>
          <p:cNvSpPr/>
          <p:nvPr/>
        </p:nvSpPr>
        <p:spPr>
          <a:xfrm>
            <a:off x="9326880" y="3877056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9436608" y="3986784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2" name="Image 7" descr="/home/claude/assets/icons/mail-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3052" y="4063228"/>
            <a:ext cx="194584" cy="194584"/>
          </a:xfrm>
          <a:prstGeom prst="rect">
            <a:avLst/>
          </a:prstGeom>
        </p:spPr>
      </p:pic>
      <p:sp>
        <p:nvSpPr>
          <p:cNvPr id="73" name="Text 63"/>
          <p:cNvSpPr txBox="1"/>
          <p:nvPr/>
        </p:nvSpPr>
        <p:spPr>
          <a:xfrm>
            <a:off x="9875520" y="38770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Email / SMTP</a:t>
            </a:r>
            <a:endParaRPr lang="en-US" sz="1000" dirty="0"/>
          </a:p>
        </p:txBody>
      </p:sp>
      <p:sp>
        <p:nvSpPr>
          <p:cNvPr id="74" name="Shape 64"/>
          <p:cNvSpPr/>
          <p:nvPr/>
        </p:nvSpPr>
        <p:spPr>
          <a:xfrm>
            <a:off x="8732520" y="4155948"/>
            <a:ext cx="594360" cy="0"/>
          </a:xfrm>
          <a:prstGeom prst="line">
            <a:avLst/>
          </a:prstGeom>
          <a:noFill/>
          <a:ln w="15875">
            <a:solidFill>
              <a:srgbClr val="8FA3BF"/>
            </a:solidFill>
            <a:prstDash val="dash"/>
          </a:ln>
        </p:spPr>
      </p:sp>
      <p:sp>
        <p:nvSpPr>
          <p:cNvPr id="75" name="Shape 65"/>
          <p:cNvSpPr/>
          <p:nvPr/>
        </p:nvSpPr>
        <p:spPr>
          <a:xfrm>
            <a:off x="8458200" y="3954780"/>
            <a:ext cx="1143000" cy="164592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6" name="Text 66"/>
          <p:cNvSpPr txBox="1"/>
          <p:nvPr/>
        </p:nvSpPr>
        <p:spPr>
          <a:xfrm>
            <a:off x="8458200" y="39547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REST/HTTPS</a:t>
            </a:r>
            <a:endParaRPr lang="en-US" sz="750" dirty="0"/>
          </a:p>
        </p:txBody>
      </p:sp>
      <p:sp>
        <p:nvSpPr>
          <p:cNvPr id="77" name="Text 6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78" name="Text 68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ENTITY-RELATIONSHIP MODEL — TRANSACTIONAL CORE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09160" y="17373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22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5146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/ EVENT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32520" y="25146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MENTORPROFILE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406908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ESCROWTRANSACTION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406908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86600" y="406908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22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2194560"/>
            <a:ext cx="0" cy="155448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350008"/>
            <a:ext cx="8046720" cy="0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235000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35000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235000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2971800"/>
            <a:ext cx="0" cy="155448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2971800"/>
            <a:ext cx="0" cy="155448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3127248"/>
            <a:ext cx="8046720" cy="0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312724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3749040"/>
            <a:ext cx="0" cy="155448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3904488"/>
            <a:ext cx="4663440" cy="0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390448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390448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904488"/>
            <a:ext cx="0" cy="164592"/>
          </a:xfrm>
          <a:prstGeom prst="line">
            <a:avLst/>
          </a:prstGeom>
          <a:noFill/>
          <a:ln w="15875">
            <a:solidFill>
              <a:srgbClr val="5B72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2194560"/>
            <a:ext cx="100584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7280" y="2194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44000" y="2194560"/>
            <a:ext cx="100584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000" y="2194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51960" y="2971800"/>
            <a:ext cx="128016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51960" y="29718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(seeker)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15000" y="2971800"/>
            <a:ext cx="128016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715000" y="29718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(mentor)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651760" y="3749040"/>
            <a:ext cx="100584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651760" y="3749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120640" y="3749040"/>
            <a:ext cx="100584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120640" y="3749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0" y="3749040"/>
            <a:ext cx="1005840" cy="146304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315200" y="3749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5760720" y="23591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(author)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2920" y="480060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" y="4983480"/>
            <a:ext cx="365760" cy="36576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52" name="Image 0" descr="/home/claude/assets/icons/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5063947"/>
            <a:ext cx="204826" cy="204826"/>
          </a:xfrm>
          <a:prstGeom prst="rect">
            <a:avLst/>
          </a:prstGeom>
        </p:spPr>
      </p:pic>
      <p:sp>
        <p:nvSpPr>
          <p:cNvPr id="53" name="Text 50"/>
          <p:cNvSpPr txBox="1"/>
          <p:nvPr/>
        </p:nvSpPr>
        <p:spPr>
          <a:xfrm>
            <a:off x="1161288" y="5001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Transactional Data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704088" y="54589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identities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assessments &amp; paths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sessions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transactions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3063240" y="54589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715000" y="480060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5897880" y="4983480"/>
            <a:ext cx="365760" cy="36576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58" name="Image 1" descr="/home/claude/assets/icons/layer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347" y="5063947"/>
            <a:ext cx="204826" cy="204826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6373368" y="5001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Document Data</a:t>
            </a:r>
            <a:endParaRPr lang="en-US" sz="1250" dirty="0"/>
          </a:p>
        </p:txBody>
      </p:sp>
      <p:sp>
        <p:nvSpPr>
          <p:cNvPr id="60" name="Text 56"/>
          <p:cNvSpPr txBox="1"/>
          <p:nvPr/>
        </p:nvSpPr>
        <p:spPr>
          <a:xfrm>
            <a:off x="5916168" y="54589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profiles (search cards)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8275320" y="54589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threads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10927080" y="4800600"/>
            <a:ext cx="731520" cy="1691640"/>
          </a:xfrm>
          <a:prstGeom prst="roundRect">
            <a:avLst>
              <a:gd name="adj" fmla="val 11250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11091672" y="502005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4" name="Image 2" descr="/home/claude/assets/icons/activity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233" y="5116617"/>
            <a:ext cx="209215" cy="209215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10927080" y="5550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66" name="Text 61"/>
          <p:cNvSpPr txBox="1"/>
          <p:nvPr/>
        </p:nvSpPr>
        <p:spPr>
          <a:xfrm>
            <a:off x="11018520" y="5843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+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50" dirty="0"/>
          </a:p>
        </p:txBody>
      </p:sp>
      <p:sp>
        <p:nvSpPr>
          <p:cNvPr id="67" name="Text 6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68" name="Text 63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User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34640" y="141732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60477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assets/icons/user-check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82" y="1693286"/>
            <a:ext cx="225308" cy="2253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01568" y="14173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UIU Email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36592" y="1705356"/>
            <a:ext cx="356616" cy="201168"/>
          </a:xfrm>
          <a:prstGeom prst="rightArrow">
            <a:avLst/>
          </a:prstGeom>
          <a:solidFill>
            <a:srgbClr val="8FA3BF"/>
          </a:solidFill>
          <a:ln/>
        </p:spPr>
      </p:sp>
      <p:sp>
        <p:nvSpPr>
          <p:cNvPr id="9" name="Shape 6"/>
          <p:cNvSpPr/>
          <p:nvPr/>
        </p:nvSpPr>
        <p:spPr>
          <a:xfrm>
            <a:off x="5166360" y="141732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76088" y="160477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assets/icons/log-in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602" y="1693286"/>
            <a:ext cx="225308" cy="2253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33288" y="14173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068312" y="1705356"/>
            <a:ext cx="356616" cy="201168"/>
          </a:xfrm>
          <a:prstGeom prst="rightArrow">
            <a:avLst/>
          </a:prstGeom>
          <a:solidFill>
            <a:srgbClr val="8FA3BF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0" y="141732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07808" y="160477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assets/icons/grid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322" y="1693286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65008" y="14173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80760" y="2194560"/>
            <a:ext cx="0" cy="201168"/>
          </a:xfrm>
          <a:prstGeom prst="line">
            <a:avLst/>
          </a:prstGeom>
          <a:noFill/>
          <a:ln w="15875">
            <a:solidFill>
              <a:srgbClr val="8FA3B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270760" y="2395728"/>
            <a:ext cx="7620000" cy="0"/>
          </a:xfrm>
          <a:prstGeom prst="line">
            <a:avLst/>
          </a:prstGeom>
          <a:noFill/>
          <a:ln w="15875">
            <a:solidFill>
              <a:srgbClr val="8FA3B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70760" y="2395728"/>
            <a:ext cx="0" cy="128016"/>
          </a:xfrm>
          <a:prstGeom prst="line">
            <a:avLst/>
          </a:prstGeom>
          <a:noFill/>
          <a:ln w="15875">
            <a:solidFill>
              <a:srgbClr val="8FA3B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80760" y="2395728"/>
            <a:ext cx="0" cy="128016"/>
          </a:xfrm>
          <a:prstGeom prst="line">
            <a:avLst/>
          </a:prstGeom>
          <a:noFill/>
          <a:ln w="15875">
            <a:solidFill>
              <a:srgbClr val="8FA3B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890760" y="2395728"/>
            <a:ext cx="0" cy="128016"/>
          </a:xfrm>
          <a:prstGeom prst="line">
            <a:avLst/>
          </a:prstGeom>
          <a:noFill/>
          <a:ln w="15875">
            <a:solidFill>
              <a:srgbClr val="8FA3B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2523744"/>
            <a:ext cx="3535680" cy="384048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04088" y="2724912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25" name="Image 3" descr="/home/claude/assets/icons/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283464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80160" y="2706624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Information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31520" y="3346704"/>
            <a:ext cx="3078480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352958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31520" y="3529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069848" y="349300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notices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50392" y="3785616"/>
            <a:ext cx="0" cy="27432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31520" y="407822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3152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69848" y="404164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50392" y="4334256"/>
            <a:ext cx="0" cy="27432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31520" y="462686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31520" y="4626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069848" y="459028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850392" y="4882896"/>
            <a:ext cx="0" cy="27432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31520" y="517550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31520" y="5175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69848" y="513892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weather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4312920" y="2523744"/>
            <a:ext cx="3535680" cy="384048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514088" y="2724912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45" name="Image 4" descr="/home/claude/assets/icons/compas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816" y="2834640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090160" y="2706624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4541520" y="3346704"/>
            <a:ext cx="3078480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4541520" y="352958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4541520" y="3529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4879848" y="349300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4660392" y="3785616"/>
            <a:ext cx="0" cy="27432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4541520" y="407822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454152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4879848" y="404164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4660392" y="4334256"/>
            <a:ext cx="0" cy="27432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541520" y="4626864"/>
            <a:ext cx="237744" cy="23774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4541520" y="4626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1"/>
          <p:cNvSpPr txBox="1"/>
          <p:nvPr/>
        </p:nvSpPr>
        <p:spPr>
          <a:xfrm>
            <a:off x="4879848" y="459028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8122920" y="2523744"/>
            <a:ext cx="3535680" cy="3840480"/>
          </a:xfrm>
          <a:prstGeom prst="roundRect">
            <a:avLst>
              <a:gd name="adj" fmla="val 2328"/>
            </a:avLst>
          </a:prstGeom>
          <a:solidFill>
            <a:srgbClr val="12233D"/>
          </a:solidFill>
          <a:ln w="1905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8324088" y="272491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1" name="Image 5" descr="/home/claude/assets/icons/users-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3816" y="2834640"/>
            <a:ext cx="237744" cy="237744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8900160" y="2706624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Help  — escrow-protected</a:t>
            </a:r>
            <a:endParaRPr lang="en-US" sz="1250" dirty="0"/>
          </a:p>
        </p:txBody>
      </p:sp>
      <p:sp>
        <p:nvSpPr>
          <p:cNvPr id="63" name="Shape 55"/>
          <p:cNvSpPr/>
          <p:nvPr/>
        </p:nvSpPr>
        <p:spPr>
          <a:xfrm>
            <a:off x="8351520" y="3346704"/>
            <a:ext cx="3078480" cy="0"/>
          </a:xfrm>
          <a:prstGeom prst="line">
            <a:avLst/>
          </a:prstGeom>
          <a:noFill/>
          <a:ln w="15875">
            <a:solidFill>
              <a:srgbClr val="24406B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8351520" y="3529584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65" name="Text 57"/>
          <p:cNvSpPr txBox="1"/>
          <p:nvPr/>
        </p:nvSpPr>
        <p:spPr>
          <a:xfrm>
            <a:off x="8351520" y="3529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Text 58"/>
          <p:cNvSpPr txBox="1"/>
          <p:nvPr/>
        </p:nvSpPr>
        <p:spPr>
          <a:xfrm>
            <a:off x="8689848" y="349300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course</a:t>
            </a:r>
            <a:endParaRPr lang="en-US" sz="1050" dirty="0"/>
          </a:p>
        </p:txBody>
      </p:sp>
      <p:sp>
        <p:nvSpPr>
          <p:cNvPr id="67" name="Shape 59"/>
          <p:cNvSpPr/>
          <p:nvPr/>
        </p:nvSpPr>
        <p:spPr>
          <a:xfrm>
            <a:off x="8470392" y="3785616"/>
            <a:ext cx="0" cy="210312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8351520" y="4014216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69" name="Text 61"/>
          <p:cNvSpPr txBox="1"/>
          <p:nvPr/>
        </p:nvSpPr>
        <p:spPr>
          <a:xfrm>
            <a:off x="8351520" y="4014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0" name="Text 62"/>
          <p:cNvSpPr txBox="1"/>
          <p:nvPr/>
        </p:nvSpPr>
        <p:spPr>
          <a:xfrm>
            <a:off x="8689848" y="3977640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mentor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8470392" y="4270248"/>
            <a:ext cx="0" cy="210312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8351520" y="4498848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73" name="Text 65"/>
          <p:cNvSpPr txBox="1"/>
          <p:nvPr/>
        </p:nvSpPr>
        <p:spPr>
          <a:xfrm>
            <a:off x="8351520" y="4498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Text 66"/>
          <p:cNvSpPr txBox="1"/>
          <p:nvPr/>
        </p:nvSpPr>
        <p:spPr>
          <a:xfrm>
            <a:off x="8689848" y="446227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+ bKash escrow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8470392" y="4754880"/>
            <a:ext cx="0" cy="210312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8351520" y="4983480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77" name="Text 69"/>
          <p:cNvSpPr txBox="1"/>
          <p:nvPr/>
        </p:nvSpPr>
        <p:spPr>
          <a:xfrm>
            <a:off x="8351520" y="4983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8" name="Text 70"/>
          <p:cNvSpPr txBox="1"/>
          <p:nvPr/>
        </p:nvSpPr>
        <p:spPr>
          <a:xfrm>
            <a:off x="8689848" y="4946904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delivered</a:t>
            </a:r>
            <a:endParaRPr lang="en-US" sz="1050" dirty="0"/>
          </a:p>
        </p:txBody>
      </p:sp>
      <p:sp>
        <p:nvSpPr>
          <p:cNvPr id="79" name="Shape 71"/>
          <p:cNvSpPr/>
          <p:nvPr/>
        </p:nvSpPr>
        <p:spPr>
          <a:xfrm>
            <a:off x="8470392" y="5239512"/>
            <a:ext cx="0" cy="210312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8351520" y="5468112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81" name="Text 73"/>
          <p:cNvSpPr txBox="1"/>
          <p:nvPr/>
        </p:nvSpPr>
        <p:spPr>
          <a:xfrm>
            <a:off x="8351520" y="5468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2" name="Text 74"/>
          <p:cNvSpPr txBox="1"/>
          <p:nvPr/>
        </p:nvSpPr>
        <p:spPr>
          <a:xfrm>
            <a:off x="8689848" y="5431536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release</a:t>
            </a:r>
            <a:endParaRPr lang="en-US" sz="1050" dirty="0"/>
          </a:p>
        </p:txBody>
      </p:sp>
      <p:sp>
        <p:nvSpPr>
          <p:cNvPr id="83" name="Shape 75"/>
          <p:cNvSpPr/>
          <p:nvPr/>
        </p:nvSpPr>
        <p:spPr>
          <a:xfrm>
            <a:off x="8470392" y="5724144"/>
            <a:ext cx="0" cy="210312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8351520" y="5952744"/>
            <a:ext cx="237744" cy="237744"/>
          </a:xfrm>
          <a:prstGeom prst="ellipse">
            <a:avLst/>
          </a:prstGeom>
          <a:solidFill>
            <a:srgbClr val="1B334F"/>
          </a:solidFill>
          <a:ln/>
        </p:spPr>
      </p:sp>
      <p:sp>
        <p:nvSpPr>
          <p:cNvPr id="85" name="Text 77"/>
          <p:cNvSpPr txBox="1"/>
          <p:nvPr/>
        </p:nvSpPr>
        <p:spPr>
          <a:xfrm>
            <a:off x="8351520" y="5952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6" name="Text 78"/>
          <p:cNvSpPr txBox="1"/>
          <p:nvPr/>
        </p:nvSpPr>
        <p:spPr>
          <a:xfrm>
            <a:off x="8689848" y="5916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mentor</a:t>
            </a:r>
            <a:endParaRPr lang="en-US" sz="1050" dirty="0"/>
          </a:p>
        </p:txBody>
      </p:sp>
      <p:sp>
        <p:nvSpPr>
          <p:cNvPr id="87" name="Text 7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88" name="Text 80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 — Proposed Interface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inventory from SRS Appendix E — low-fidelity layouts are maintained in the separate design package, not reproduced here as images.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70202" cy="3246120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2002536"/>
            <a:ext cx="1850746" cy="77724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10" name="Shape 8"/>
          <p:cNvSpPr/>
          <p:nvPr/>
        </p:nvSpPr>
        <p:spPr>
          <a:xfrm>
            <a:off x="1281989" y="2203704"/>
            <a:ext cx="512064" cy="512064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1" name="Image 0" descr="/home/claude/assets/icons/monito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884" y="2326599"/>
            <a:ext cx="266273" cy="26627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2862072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3355848"/>
            <a:ext cx="1704442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502152"/>
            <a:ext cx="17044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role-aware nav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cards with priority chips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strip · traffic &amp; weather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74290" y="1874520"/>
            <a:ext cx="2070202" cy="3246120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84018" y="2002536"/>
            <a:ext cx="1850746" cy="77724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75458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18" name="Shape 15"/>
          <p:cNvSpPr/>
          <p:nvPr/>
        </p:nvSpPr>
        <p:spPr>
          <a:xfrm>
            <a:off x="3085186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19" name="Shape 16"/>
          <p:cNvSpPr/>
          <p:nvPr/>
        </p:nvSpPr>
        <p:spPr>
          <a:xfrm>
            <a:off x="3194914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53358" y="2203704"/>
            <a:ext cx="512064" cy="512064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21" name="Image 1" descr="/home/claude/assets/icons/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254" y="2326599"/>
            <a:ext cx="266273" cy="26627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911450" y="2862072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Assessment Wizard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957170" y="3355848"/>
            <a:ext cx="1704442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957170" y="3502152"/>
            <a:ext cx="17044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indicator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chips (multi-select)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Progress-safe navigation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45659" y="1874520"/>
            <a:ext cx="2070202" cy="3246120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155387" y="2002536"/>
            <a:ext cx="1850746" cy="77724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46827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28" name="Shape 24"/>
          <p:cNvSpPr/>
          <p:nvPr/>
        </p:nvSpPr>
        <p:spPr>
          <a:xfrm>
            <a:off x="5356555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29" name="Shape 25"/>
          <p:cNvSpPr/>
          <p:nvPr/>
        </p:nvSpPr>
        <p:spPr>
          <a:xfrm>
            <a:off x="5466283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30" name="Shape 26"/>
          <p:cNvSpPr/>
          <p:nvPr/>
        </p:nvSpPr>
        <p:spPr>
          <a:xfrm>
            <a:off x="5824728" y="2203704"/>
            <a:ext cx="512064" cy="512064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31" name="Image 2" descr="/home/claude/assets/icons/sear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623" y="2326599"/>
            <a:ext cx="266273" cy="26627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182819" y="2862072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Search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228539" y="3355848"/>
            <a:ext cx="1704442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228539" y="3502152"/>
            <a:ext cx="17044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Course-code search box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rail: rating, fee, availability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cards with track record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317029" y="1874520"/>
            <a:ext cx="2070202" cy="3246120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426757" y="2002536"/>
            <a:ext cx="1850746" cy="77724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518197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38" name="Shape 33"/>
          <p:cNvSpPr/>
          <p:nvPr/>
        </p:nvSpPr>
        <p:spPr>
          <a:xfrm>
            <a:off x="7627925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39" name="Shape 34"/>
          <p:cNvSpPr/>
          <p:nvPr/>
        </p:nvSpPr>
        <p:spPr>
          <a:xfrm>
            <a:off x="7737653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40" name="Shape 35"/>
          <p:cNvSpPr/>
          <p:nvPr/>
        </p:nvSpPr>
        <p:spPr>
          <a:xfrm>
            <a:off x="8096098" y="2203704"/>
            <a:ext cx="512064" cy="512064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41" name="Image 3" descr="/home/claude/assets/icons/credit-car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993" y="2326599"/>
            <a:ext cx="266273" cy="266273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454189" y="2862072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Payment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7499909" y="3355848"/>
            <a:ext cx="1704442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499909" y="3502152"/>
            <a:ext cx="17044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picker + fee summary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explainer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checkout button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9588398" y="1874520"/>
            <a:ext cx="2070202" cy="3246120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9698126" y="2002536"/>
            <a:ext cx="1850746" cy="77724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789566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48" name="Shape 42"/>
          <p:cNvSpPr/>
          <p:nvPr/>
        </p:nvSpPr>
        <p:spPr>
          <a:xfrm>
            <a:off x="9899294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49" name="Shape 43"/>
          <p:cNvSpPr/>
          <p:nvPr/>
        </p:nvSpPr>
        <p:spPr>
          <a:xfrm>
            <a:off x="10009022" y="2075688"/>
            <a:ext cx="73152" cy="73152"/>
          </a:xfrm>
          <a:prstGeom prst="ellipse">
            <a:avLst/>
          </a:prstGeom>
          <a:solidFill>
            <a:srgbClr val="8FA3BF"/>
          </a:solidFill>
          <a:ln/>
        </p:spPr>
      </p:sp>
      <p:sp>
        <p:nvSpPr>
          <p:cNvPr id="50" name="Shape 44"/>
          <p:cNvSpPr/>
          <p:nvPr/>
        </p:nvSpPr>
        <p:spPr>
          <a:xfrm>
            <a:off x="10367467" y="2203704"/>
            <a:ext cx="512064" cy="512064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51" name="Image 4" descr="/home/claude/assets/icons/grid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363" y="2326599"/>
            <a:ext cx="266273" cy="266273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9725558" y="2862072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200" dirty="0"/>
          </a:p>
        </p:txBody>
      </p:sp>
      <p:sp>
        <p:nvSpPr>
          <p:cNvPr id="53" name="Shape 46"/>
          <p:cNvSpPr/>
          <p:nvPr/>
        </p:nvSpPr>
        <p:spPr>
          <a:xfrm>
            <a:off x="9771278" y="3355848"/>
            <a:ext cx="1704442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9771278" y="3502152"/>
            <a:ext cx="17044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queue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panel: timeline + evidence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settings &amp; analytics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56" name="Text 49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Requirements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35680" cy="1554480"/>
          </a:xfrm>
          <a:prstGeom prst="roundRect">
            <a:avLst>
              <a:gd name="adj" fmla="val 5294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covered by ≥ 1 use case and design element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12920" y="1463040"/>
            <a:ext cx="3535680" cy="1554480"/>
          </a:xfrm>
          <a:prstGeom prst="roundRect">
            <a:avLst>
              <a:gd name="adj" fmla="val 5294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240" y="1554480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24028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Cases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560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the SRS — 60+ cases in the full suite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22920" y="1463040"/>
            <a:ext cx="3535680" cy="1554480"/>
          </a:xfrm>
          <a:prstGeom prst="roundRect">
            <a:avLst>
              <a:gd name="adj" fmla="val 5294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7240" y="1554480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97240" y="224028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M-Priority Reqs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97240" y="25603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every M-priority requirement mapped to a test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246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SCOPE COVERED IN THE TEST STRATEGY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826764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19" name="Image 0" descr="/home/claude/assets/icons/git-bra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5" y="3923325"/>
            <a:ext cx="245791" cy="245791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79576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337560" y="36118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3826764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23" name="Image 1" descr="/home/claude/assets/icons/activity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425" y="3923325"/>
            <a:ext cx="245791" cy="245791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014216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172200" y="36118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18504" y="3826764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27" name="Image 2" descr="/home/claude/assets/icons/monitor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065" y="3923325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48856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9006840" y="36118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53144" y="3826764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31" name="Image 3" descr="/home/claude/assets/icons/thumbs-up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705" y="3923325"/>
            <a:ext cx="245791" cy="245791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83496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2920" y="464515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9224" y="4860036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35" name="Image 4" descr="/home/claude/assets/icons/refresh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785" y="4956597"/>
            <a:ext cx="245791" cy="24579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179576" y="46451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3337560" y="464515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483864" y="4860036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39" name="Image 5" descr="/home/claude/assets/icons/shield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0425" y="4956597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014216" y="46451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6172200" y="464515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318504" y="4860036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43" name="Image 6" descr="/home/claude/assets/icons/trending-up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5065" y="4956597"/>
            <a:ext cx="245791" cy="245791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848856" y="46451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9006840" y="464515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9153144" y="4860036"/>
            <a:ext cx="438912" cy="438912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47" name="Image 7" descr="/home/claude/assets/icons/user-check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9705" y="4956597"/>
            <a:ext cx="245791" cy="245791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683496" y="46451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502920" y="5660136"/>
            <a:ext cx="11155680" cy="502920"/>
          </a:xfrm>
          <a:prstGeom prst="roundRect">
            <a:avLst>
              <a:gd name="adj" fmla="val 14545"/>
            </a:avLst>
          </a:prstGeom>
          <a:solidFill>
            <a:srgbClr val="FDF3E4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12648" y="574243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1" name="Image 8" descr="/home/claude/assets/icons/check-circle-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5" y="5808269"/>
            <a:ext cx="197510" cy="19751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051560" y="56601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gate: all M-priority requirements pass their mapped test cases, and the escrow lifecycle executes without manual intervention.</a:t>
            </a:r>
            <a:endParaRPr lang="en-US" sz="1050" dirty="0"/>
          </a:p>
        </p:txBody>
      </p:sp>
      <p:sp>
        <p:nvSpPr>
          <p:cNvPr id="53" name="Text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54" name="Text 43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51760" cy="4434840"/>
          </a:xfrm>
          <a:prstGeom prst="roundRect">
            <a:avLst>
              <a:gd name="adj" fmla="val 3103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96596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assets/icons/play-circle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167128"/>
            <a:ext cx="603504" cy="6035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walkthrough across all three platform pillars — information, guidance, and protected mentor payments.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191223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39312" y="19122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1" descr="/home/claude/assets/icons/log-in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921383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96512" y="160020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UIU verification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680960" y="160020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45552" y="191223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45552" y="19122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2" descr="/home/claude/assets/icons/bell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1921383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160020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Campus Info Hub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474720" y="275463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39312" y="306666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3639312" y="306666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2" name="Image 3" descr="/home/claude/assets/icons/target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075813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096512" y="275463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Career Assessment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680960" y="275463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45552" y="306666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845552" y="306666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7" name="Image 4" descr="/home/claude/assets/icons/trending-up-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0" y="3075813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302752" y="275463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recommended roadmap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74720" y="390906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39312" y="422109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639312" y="42210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2" name="Image 5" descr="/home/claude/assets/icons/search-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4230243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096512" y="390906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mentor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680960" y="390906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845552" y="422109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845552" y="42210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7" name="Image 6" descr="/home/claude/assets/icons/users-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0" y="4230243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02752" y="390906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mentor session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3474720" y="506349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639312" y="537552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3639312" y="53755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42" name="Image 7" descr="/home/claude/assets/icons/lock-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5384673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096512" y="506349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escrow workflow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7680960" y="5063490"/>
            <a:ext cx="3977640" cy="971550"/>
          </a:xfrm>
          <a:prstGeom prst="roundRect">
            <a:avLst>
              <a:gd name="adj" fmla="val 8471"/>
            </a:avLst>
          </a:prstGeom>
          <a:solidFill>
            <a:srgbClr val="0F1D33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845552" y="5375529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7845552" y="53755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47" name="Image 8" descr="/home/claude/assets/icons/star-amb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0" y="5384673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302752" y="5063490"/>
            <a:ext cx="2743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/ dispute / admin view</a:t>
            </a:r>
            <a:endParaRPr lang="en-US" sz="1150" dirty="0"/>
          </a:p>
        </p:txBody>
      </p:sp>
      <p:sp>
        <p:nvSpPr>
          <p:cNvPr id="49" name="Text 3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focuses on the core user journey and the three platform pillars.</a:t>
            </a:r>
            <a:endParaRPr lang="en-US" sz="950" dirty="0"/>
          </a:p>
        </p:txBody>
      </p:sp>
      <p:sp>
        <p:nvSpPr>
          <p:cNvPr id="50" name="Text 39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2233D"/>
          </a:solidFill>
          <a:ln/>
        </p:spPr>
      </p:sp>
      <p:pic>
        <p:nvPicPr>
          <p:cNvPr id="6" name="Image 0" descr="/home/claude/assets/icons/alert-triang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4937760" cy="0"/>
          </a:xfrm>
          <a:prstGeom prst="line">
            <a:avLst/>
          </a:prstGeom>
          <a:noFill/>
          <a:ln w="15875">
            <a:solidFill>
              <a:srgbClr val="E1E7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" y="2560320"/>
            <a:ext cx="48828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single-campus (UIU) scope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marketplace cold-start — needs a seeded cohort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third-party uptime: bKash, Vercel, MongoDB Atlas, APIs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freshness depends on faculty adopting the publishing flow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concentrates knowledge (bus-factor risk)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apps, AI-based tutoring/proctoring, and other payment providers are out of scope for this release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2233D"/>
          </a:solidFill>
          <a:ln w="12700">
            <a:solidFill>
              <a:srgbClr val="E1E7EF"/>
            </a:solidFill>
            <a:prstDash val="solid"/>
          </a:ln>
          <a:effectLst>
            <a:outerShdw blurRad="101600" dist="25400" dir="5400000" algn="bl" rotWithShape="0">
              <a:srgbClr val="1B2C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assets/icons/arrow-up-right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470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8660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2377440"/>
            <a:ext cx="4937760" cy="0"/>
          </a:xfrm>
          <a:prstGeom prst="line">
            <a:avLst/>
          </a:prstGeom>
          <a:noFill/>
          <a:ln w="15875">
            <a:solidFill>
              <a:srgbClr val="24406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9672" y="2560320"/>
            <a:ext cx="48828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other Bangladeshi universities (multi-campus / multi-tenant)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mentor network and employer partnerships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 Mentor” verified badge and featured-placement revenue lines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analytics dashboards licensed to departments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roadmap services: certifications, clubs, workshops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a UIU student platform to a scalable campus ecosystem.”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GUIDE  |  UIU CSE  |  2026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1009</Words>
  <Application>Microsoft Office PowerPoint</Application>
  <PresentationFormat>Widescreen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Nur Hossain Nazim</cp:lastModifiedBy>
  <cp:revision>2</cp:revision>
  <dcterms:created xsi:type="dcterms:W3CDTF">2026-09-22T05:14:49Z</dcterms:created>
  <dcterms:modified xsi:type="dcterms:W3CDTF">2026-09-22T13:46:29Z</dcterms:modified>
</cp:coreProperties>
</file>