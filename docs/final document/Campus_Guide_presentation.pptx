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A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6054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Syntex Squad from the UIU Department of CSE. Campus Guide brings campus information, career guidance and mentoring into one verified platform. We present this project under faculty teacher Rejwan Ahmed.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 notices are spread across physical boards and Facebook groups. Career advice is often generic, mentors are found through word of mouth, and tutoring payments through bKash lack a protective session-confirmation flow.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commitments directly answer the four gaps. Centralized information reduces searching. Personalized guidance makes advice actionable. Verified mentors make help discoverable. Escrow protects the payment flow, while ratings and administrative oversight support trust across the platform.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has three pillars, but students do not need three separate identities. Campus Info Hub, Career Path Finder and Mentor-Powered Help sit behind the same UIU email verification boundary.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browse by category and department rather than asking around. Ratings and prices are visible during discovery. The example is the Machine Learning Career Roadmap by Dr. Rafiqul Islam, rated 4.9 stars. The title describes the intended discovery experience, not a measured timing result.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service fee is 500 taka. A 5% commission adds 25 taka, making the student's total 525. Payment is held in escrow. The mentor receives the release only after the student confirms the session.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 Path begins with a three-step profile and produces match scores. Software Engineer appears at 77% in this example. The student can then follow a six-step learning roadmap and track progress. The match score is guidance, not a guarantee of career success.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Mentors can manage withdrawals through bKash and review student feedback. The example shows an average rating of 4.7 across three reviews. Earnings support participation, while visible reviews help students judge a service before booking.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admin dashboard shows 4,821 users, 134 services and 892 bookings. The report shows total revenue of 4,46,000 taka over six months. These are the values displayed in the product evidence, not an independently verified adoption study.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presents Campus Guide to its users. The application layer uses Next.js, NextAuth and role-based access. The service layer handles campus information, matching, booking and escrow, and connects to external APIs. PostgreSQL, MongoDB and Redis form the data layer. The integrations are bKash, Google Maps and OpenWeather.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Mentors manage their work from one dashboard. They accept or reject pending booking requests, track this month’s 12,400 taka in earnings, and submit new services for admin approval. Their average rating is 4.7.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manage seven users across four roles, approve services, and track bookings and payments. Reports show 4,46,000 taka revenue, 892 bookings and 1,621 new users.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64 functional requirements. We present 15 representative test cases from a suite of 60+, with no M-priority requirement left uncovered. Testing spans eight types, from unit to accessibility.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 Guide is scoped to UIU and depends on mentor supply, faculty content and third-party uptime. Next steps are multi-campus growth, an alumni network, a Pro Mentor badge, analytics and bundled roadmap services.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Team Syntex Squad from the UIU Department of CSE, and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BFAF6"/>
          </a:solidFill>
          <a:ln/>
        </p:spPr>
      </p:sp>
      <p:sp>
        <p:nvSpPr>
          <p:cNvPr id="4" name="Shape 2"/>
          <p:cNvSpPr/>
          <p:nvPr/>
        </p:nvSpPr>
        <p:spPr>
          <a:xfrm>
            <a:off x="0" y="0"/>
            <a:ext cx="12191695" cy="6858099"/>
          </a:xfrm>
          <a:prstGeom prst="rect">
            <a:avLst/>
          </a:prstGeom>
          <a:solidFill>
            <a:srgbClr val="D3D0C6"/>
          </a:solidFill>
          <a:ln/>
        </p:spPr>
      </p:sp>
      <p:sp>
        <p:nvSpPr>
          <p:cNvPr id="5" name="Shape 3"/>
          <p:cNvSpPr/>
          <p:nvPr/>
        </p:nvSpPr>
        <p:spPr>
          <a:xfrm>
            <a:off x="0" y="0"/>
            <a:ext cx="12191695" cy="6858099"/>
          </a:xfrm>
          <a:prstGeom prst="rect">
            <a:avLst/>
          </a:prstGeom>
          <a:solidFill>
            <a:srgbClr val="FBFAF6"/>
          </a:solidFill>
          <a:ln/>
        </p:spPr>
      </p:sp>
      <p:pic>
        <p:nvPicPr>
          <p:cNvPr id="6"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6095848" cy="6858099"/>
          </a:xfrm>
          <a:prstGeom prst="rect">
            <a:avLst/>
          </a:prstGeom>
          <a:solidFill>
            <a:srgbClr val="FF8424"/>
          </a:solidFill>
          <a:ln/>
        </p:spPr>
      </p:sp>
      <p:sp>
        <p:nvSpPr>
          <p:cNvPr id="4" name="Text 2"/>
          <p:cNvSpPr/>
          <p:nvPr/>
        </p:nvSpPr>
        <p:spPr>
          <a:xfrm>
            <a:off x="609585" y="1610420"/>
            <a:ext cx="4921127" cy="642541"/>
          </a:xfrm>
          <a:prstGeom prst="rect">
            <a:avLst/>
          </a:prstGeom>
          <a:noFill/>
          <a:ln/>
        </p:spPr>
        <p:txBody>
          <a:bodyPr wrap="square" lIns="0" tIns="0" rIns="0" bIns="0" rtlCol="0" anchor="t">
            <a:normAutofit lnSpcReduction="10000"/>
          </a:bodyPr>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One Platform for Campus Life, Careers and Mentoring</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609585" y="4692636"/>
            <a:ext cx="4978275" cy="1444625"/>
          </a:xfrm>
          <a:prstGeom prst="rect">
            <a:avLst/>
          </a:prstGeom>
          <a:noFill/>
          <a:ln/>
        </p:spPr>
        <p:txBody>
          <a:bodyPr wrap="square" lIns="0" tIns="0" rIns="0" bIns="0" rtlCol="0" anchor="t">
            <a:noAutofit/>
          </a:bodyPr>
          <a:lstStyle/>
          <a:p>
            <a:pPr marL="0" indent="0" algn="l">
              <a:lnSpc>
                <a:spcPct val="104000"/>
              </a:lnSpc>
              <a:buNone/>
            </a:pPr>
            <a:r>
              <a:rPr lang="en-US" sz="1600" b="1" kern="100" spc="13" dirty="0">
                <a:solidFill>
                  <a:srgbClr val="000000"/>
                </a:solidFill>
                <a:latin typeface="Times New Roman" panose="02020603050405020304" pitchFamily="18" charset="0"/>
                <a:ea typeface="Red Hat Mono" pitchFamily="34" charset="-122"/>
                <a:cs typeface="Times New Roman" panose="02020603050405020304" pitchFamily="18" charset="0"/>
              </a:rPr>
              <a:t>Team Syntax Squad</a:t>
            </a:r>
            <a:endParaRPr lang="en-US" sz="1600" b="1" dirty="0">
              <a:latin typeface="Times New Roman" panose="02020603050405020304" pitchFamily="18" charset="0"/>
              <a:cs typeface="Times New Roman" panose="02020603050405020304" pitchFamily="18" charset="0"/>
            </a:endParaRPr>
          </a:p>
          <a:p>
            <a:pPr marL="0" indent="0" algn="l">
              <a:lnSpc>
                <a:spcPct val="104000"/>
              </a:lnSpc>
              <a:buNone/>
            </a:pPr>
            <a:r>
              <a:rPr lang="en-US" sz="1600" b="1" kern="100" spc="13" dirty="0">
                <a:solidFill>
                  <a:srgbClr val="16171D"/>
                </a:solidFill>
                <a:latin typeface="Times New Roman" panose="02020603050405020304" pitchFamily="18" charset="0"/>
                <a:ea typeface="Red Hat Mono" pitchFamily="34" charset="-122"/>
                <a:cs typeface="Times New Roman" panose="02020603050405020304" pitchFamily="18" charset="0"/>
              </a:rPr>
              <a:t> </a:t>
            </a:r>
            <a:endParaRPr lang="en-US" sz="1600" b="1" dirty="0"/>
          </a:p>
          <a:p>
            <a:pPr marL="0" indent="0" algn="l">
              <a:lnSpc>
                <a:spcPct val="104000"/>
              </a:lnSpc>
              <a:buNone/>
            </a:pPr>
            <a:r>
              <a:rPr lang="en-US" sz="1600" b="1" kern="100" spc="13" dirty="0">
                <a:solidFill>
                  <a:srgbClr val="000000"/>
                </a:solidFill>
                <a:latin typeface="Times New Roman" panose="02020603050405020304" pitchFamily="18" charset="0"/>
                <a:ea typeface="Red Hat Mono" pitchFamily="34" charset="-122"/>
                <a:cs typeface="Times New Roman" panose="02020603050405020304" pitchFamily="18" charset="0"/>
              </a:rPr>
              <a:t>UIU Department of CSE</a:t>
            </a:r>
            <a:endParaRPr lang="en-US" sz="1600" b="1" dirty="0"/>
          </a:p>
          <a:p>
            <a:pPr marL="0" indent="0" algn="l">
              <a:lnSpc>
                <a:spcPct val="104000"/>
              </a:lnSpc>
              <a:buNone/>
            </a:pPr>
            <a:r>
              <a:rPr lang="en-US" sz="1600" b="1" kern="100" spc="13" dirty="0">
                <a:solidFill>
                  <a:srgbClr val="16171D"/>
                </a:solidFill>
                <a:latin typeface="Times New Roman" panose="02020603050405020304" pitchFamily="18" charset="0"/>
                <a:ea typeface="Red Hat Mono" pitchFamily="34" charset="-122"/>
                <a:cs typeface="Times New Roman" panose="02020603050405020304" pitchFamily="18" charset="0"/>
              </a:rPr>
              <a:t> </a:t>
            </a:r>
            <a:endParaRPr lang="en-US" sz="1600" b="1" dirty="0"/>
          </a:p>
          <a:p>
            <a:pPr marL="0" indent="0" algn="l">
              <a:lnSpc>
                <a:spcPct val="104000"/>
              </a:lnSpc>
              <a:buNone/>
            </a:pPr>
            <a:r>
              <a:rPr lang="en-US" sz="1600" b="1" kern="100" spc="13" dirty="0">
                <a:solidFill>
                  <a:srgbClr val="000000"/>
                </a:solidFill>
                <a:latin typeface="Times New Roman" panose="02020603050405020304" pitchFamily="18" charset="0"/>
                <a:ea typeface="Red Hat Mono" pitchFamily="34" charset="-122"/>
                <a:cs typeface="Times New Roman" panose="02020603050405020304" pitchFamily="18" charset="0"/>
              </a:rPr>
              <a:t>Faculty teacher Rejwan Ahmed</a:t>
            </a:r>
            <a:endParaRPr lang="en-US" sz="1600" b="1" dirty="0"/>
          </a:p>
          <a:p>
            <a:pPr marL="0" indent="0" algn="l">
              <a:lnSpc>
                <a:spcPct val="104000"/>
              </a:lnSpc>
              <a:buNone/>
            </a:pPr>
            <a:r>
              <a:rPr lang="en-US" sz="1600" b="1" kern="100" spc="13" dirty="0">
                <a:solidFill>
                  <a:srgbClr val="16171D"/>
                </a:solidFill>
                <a:latin typeface="Times New Roman" panose="02020603050405020304" pitchFamily="18" charset="0"/>
                <a:ea typeface="Red Hat Mono" pitchFamily="34" charset="-122"/>
                <a:cs typeface="Times New Roman" panose="02020603050405020304" pitchFamily="18" charset="0"/>
              </a:rPr>
              <a:t> </a:t>
            </a:r>
            <a:endParaRPr lang="en-US" sz="1600" b="1" dirty="0"/>
          </a:p>
          <a:p>
            <a:pPr marL="0" indent="0" algn="l">
              <a:lnSpc>
                <a:spcPct val="104000"/>
              </a:lnSpc>
              <a:buNone/>
            </a:pPr>
            <a:r>
              <a:rPr lang="en-US" sz="1600" b="1" kern="100" spc="13" dirty="0">
                <a:solidFill>
                  <a:srgbClr val="000000"/>
                </a:solidFill>
                <a:latin typeface="Times New Roman" panose="02020603050405020304" pitchFamily="18" charset="0"/>
                <a:ea typeface="Red Hat Mono" pitchFamily="34" charset="-122"/>
                <a:cs typeface="Times New Roman" panose="02020603050405020304" pitchFamily="18" charset="0"/>
              </a:rPr>
              <a:t>September 2026</a:t>
            </a:r>
            <a:endParaRPr lang="en-US" sz="1600" b="1" dirty="0"/>
          </a:p>
        </p:txBody>
      </p:sp>
      <p:sp>
        <p:nvSpPr>
          <p:cNvPr id="6" name="Shape 4"/>
          <p:cNvSpPr/>
          <p:nvPr/>
        </p:nvSpPr>
        <p:spPr>
          <a:xfrm>
            <a:off x="6095848" y="0"/>
            <a:ext cx="6095848" cy="6858099"/>
          </a:xfrm>
          <a:prstGeom prst="rect">
            <a:avLst/>
          </a:prstGeom>
          <a:solidFill>
            <a:srgbClr val="16171D"/>
          </a:solidFill>
          <a:ln/>
        </p:spPr>
        <p:txBody>
          <a:bodyPr/>
          <a:lstStyle/>
          <a:p>
            <a:endParaRPr lang="en-US" dirty="0"/>
          </a:p>
        </p:txBody>
      </p:sp>
      <p:pic>
        <p:nvPicPr>
          <p:cNvPr id="9" name="Picture 8">
            <a:extLst>
              <a:ext uri="{FF2B5EF4-FFF2-40B4-BE49-F238E27FC236}">
                <a16:creationId xmlns:a16="http://schemas.microsoft.com/office/drawing/2014/main" id="{547F4E87-5BD9-6A95-BCC1-26407E0F8AA7}"/>
              </a:ext>
            </a:extLst>
          </p:cNvPr>
          <p:cNvPicPr>
            <a:picLocks noChangeAspect="1"/>
          </p:cNvPicPr>
          <p:nvPr/>
        </p:nvPicPr>
        <p:blipFill>
          <a:blip r:embed="rId3"/>
          <a:stretch>
            <a:fillRect/>
          </a:stretch>
        </p:blipFill>
        <p:spPr>
          <a:xfrm>
            <a:off x="6095848" y="2109066"/>
            <a:ext cx="6075834" cy="4044011"/>
          </a:xfrm>
          <a:prstGeom prst="rect">
            <a:avLst/>
          </a:prstGeom>
        </p:spPr>
      </p:pic>
      <p:sp>
        <p:nvSpPr>
          <p:cNvPr id="3" name="Text 1"/>
          <p:cNvSpPr/>
          <p:nvPr/>
        </p:nvSpPr>
        <p:spPr>
          <a:xfrm>
            <a:off x="2410856" y="609600"/>
            <a:ext cx="6239711" cy="794445"/>
          </a:xfrm>
          <a:prstGeom prst="rect">
            <a:avLst/>
          </a:prstGeom>
          <a:noFill/>
          <a:ln/>
        </p:spPr>
        <p:txBody>
          <a:bodyPr wrap="none" lIns="0" tIns="0" rIns="0" bIns="0" rtlCol="0" anchor="t"/>
          <a:lstStyle/>
          <a:p>
            <a:pPr marL="0" indent="0" algn="l">
              <a:lnSpc>
                <a:spcPct val="77000"/>
              </a:lnSpc>
              <a:buNone/>
            </a:pPr>
            <a:r>
              <a:rPr lang="en-US" sz="6800" dirty="0">
                <a:solidFill>
                  <a:srgbClr val="000000"/>
                </a:solidFill>
                <a:latin typeface="Times New Roman" panose="02020603050405020304" pitchFamily="18" charset="0"/>
                <a:ea typeface="Big Shoulders ExtraBold" pitchFamily="34" charset="-122"/>
                <a:cs typeface="Times New Roman" panose="02020603050405020304" pitchFamily="18" charset="0"/>
              </a:rPr>
              <a:t>CAMPUS </a:t>
            </a:r>
            <a:r>
              <a:rPr lang="en-US" sz="6800" dirty="0">
                <a:solidFill>
                  <a:schemeClr val="accent2"/>
                </a:solidFill>
                <a:latin typeface="Times New Roman" panose="02020603050405020304" pitchFamily="18" charset="0"/>
                <a:ea typeface="Big Shoulders ExtraBold" pitchFamily="34" charset="-122"/>
                <a:cs typeface="Times New Roman" panose="02020603050405020304" pitchFamily="18" charset="0"/>
              </a:rPr>
              <a:t>GUIDE</a:t>
            </a:r>
            <a:endParaRPr lang="en-US" sz="6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4" name="Shape 8"/>
          <p:cNvSpPr/>
          <p:nvPr/>
        </p:nvSpPr>
        <p:spPr>
          <a:xfrm>
            <a:off x="8845329" y="2196604"/>
            <a:ext cx="2743131" cy="4308078"/>
          </a:xfrm>
          <a:prstGeom prst="rect">
            <a:avLst/>
          </a:prstGeom>
          <a:solidFill>
            <a:srgbClr val="FF8424"/>
          </a:solidFill>
          <a:ln/>
        </p:spPr>
      </p:sp>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Text 0"/>
          <p:cNvSpPr/>
          <p:nvPr/>
        </p:nvSpPr>
        <p:spPr>
          <a:xfrm>
            <a:off x="609585" y="558800"/>
            <a:ext cx="10915377" cy="579041"/>
          </a:xfrm>
          <a:prstGeom prst="rect">
            <a:avLst/>
          </a:prstGeom>
          <a:noFill/>
          <a:ln/>
        </p:spPr>
        <p:txBody>
          <a:bodyPr wrap="none" lIns="0" tIns="0" rIns="0" bIns="0" rtlCol="0" anchor="t"/>
          <a:lstStyle/>
          <a:p>
            <a:pPr marL="0" indent="0" algn="l">
              <a:lnSpc>
                <a:spcPct val="79000"/>
              </a:lnSpc>
              <a:buNone/>
            </a:pPr>
            <a:r>
              <a:rPr lang="en-US" sz="48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STUDENT LIFE AT UIU IS SCATTERED</a:t>
            </a:r>
            <a:endParaRPr lang="en-US" sz="4800" dirty="0"/>
          </a:p>
        </p:txBody>
      </p:sp>
      <p:sp>
        <p:nvSpPr>
          <p:cNvPr id="4" name="Text 1"/>
          <p:cNvSpPr/>
          <p:nvPr/>
        </p:nvSpPr>
        <p:spPr>
          <a:xfrm>
            <a:off x="609585" y="1366441"/>
            <a:ext cx="11524962" cy="319980"/>
          </a:xfrm>
          <a:prstGeom prst="rect">
            <a:avLst/>
          </a:prstGeom>
          <a:noFill/>
          <a:ln/>
        </p:spPr>
        <p:txBody>
          <a:bodyPr wrap="none" lIns="0" tIns="0" rIns="0" bIns="0" rtlCol="0" anchor="t"/>
          <a:lstStyle/>
          <a:p>
            <a:pPr marL="0" indent="0" algn="l">
              <a:lnSpc>
                <a:spcPct val="117000"/>
              </a:lnSpc>
              <a:buNone/>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Students search across channels. Trust stays uncertain.</a:t>
            </a:r>
            <a:endParaRPr lang="en-US" sz="1800" dirty="0"/>
          </a:p>
        </p:txBody>
      </p:sp>
      <p:pic>
        <p:nvPicPr>
          <p:cNvPr id="5" name="Image 1" descr="preencoded.png"/>
          <p:cNvPicPr>
            <a:picLocks noChangeAspect="1"/>
          </p:cNvPicPr>
          <p:nvPr/>
        </p:nvPicPr>
        <p:blipFill>
          <a:blip r:embed="rId4"/>
          <a:stretch>
            <a:fillRect/>
          </a:stretch>
        </p:blipFill>
        <p:spPr>
          <a:xfrm>
            <a:off x="609585" y="2524621"/>
            <a:ext cx="571486" cy="571500"/>
          </a:xfrm>
          <a:prstGeom prst="rect">
            <a:avLst/>
          </a:prstGeom>
        </p:spPr>
      </p:pic>
      <p:sp>
        <p:nvSpPr>
          <p:cNvPr id="6" name="Text 2"/>
          <p:cNvSpPr/>
          <p:nvPr/>
        </p:nvSpPr>
        <p:spPr>
          <a:xfrm>
            <a:off x="609585" y="3229570"/>
            <a:ext cx="2735591"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Scattered notices</a:t>
            </a:r>
            <a:endParaRPr lang="en-US" sz="2200" dirty="0"/>
          </a:p>
        </p:txBody>
      </p:sp>
      <p:sp>
        <p:nvSpPr>
          <p:cNvPr id="7" name="Text 3"/>
          <p:cNvSpPr/>
          <p:nvPr/>
        </p:nvSpPr>
        <p:spPr>
          <a:xfrm>
            <a:off x="609585" y="3715841"/>
            <a:ext cx="2457389"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Boards and Facebook groups</a:t>
            </a:r>
            <a:endParaRPr lang="en-US" sz="1600" dirty="0"/>
          </a:p>
        </p:txBody>
      </p:sp>
      <p:pic>
        <p:nvPicPr>
          <p:cNvPr id="8" name="Image 2" descr="preencoded.png"/>
          <p:cNvPicPr>
            <a:picLocks noChangeAspect="1"/>
          </p:cNvPicPr>
          <p:nvPr/>
        </p:nvPicPr>
        <p:blipFill>
          <a:blip r:embed="rId5"/>
          <a:stretch>
            <a:fillRect/>
          </a:stretch>
        </p:blipFill>
        <p:spPr>
          <a:xfrm>
            <a:off x="3581310" y="2524621"/>
            <a:ext cx="571486" cy="571500"/>
          </a:xfrm>
          <a:prstGeom prst="rect">
            <a:avLst/>
          </a:prstGeom>
        </p:spPr>
      </p:pic>
      <p:sp>
        <p:nvSpPr>
          <p:cNvPr id="9" name="Text 4"/>
          <p:cNvSpPr/>
          <p:nvPr/>
        </p:nvSpPr>
        <p:spPr>
          <a:xfrm>
            <a:off x="3581310" y="3229570"/>
            <a:ext cx="2272053"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Generic advice</a:t>
            </a:r>
            <a:endParaRPr lang="en-US" sz="2200" dirty="0"/>
          </a:p>
        </p:txBody>
      </p:sp>
      <p:sp>
        <p:nvSpPr>
          <p:cNvPr id="10" name="Text 5"/>
          <p:cNvSpPr/>
          <p:nvPr/>
        </p:nvSpPr>
        <p:spPr>
          <a:xfrm>
            <a:off x="3581310" y="3715841"/>
            <a:ext cx="3257667" cy="284460"/>
          </a:xfrm>
          <a:prstGeom prst="rect">
            <a:avLst/>
          </a:prstGeom>
          <a:noFill/>
          <a:ln/>
        </p:spPr>
        <p:txBody>
          <a:bodyPr wrap="none" lIns="0" tIns="0" rIns="0" bIns="0" rtlCol="0" anchor="t"/>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No personal career path</a:t>
            </a:r>
            <a:endParaRPr lang="en-US" sz="1600" dirty="0"/>
          </a:p>
        </p:txBody>
      </p:sp>
      <p:pic>
        <p:nvPicPr>
          <p:cNvPr id="11" name="Image 3" descr="preencoded.png"/>
          <p:cNvPicPr>
            <a:picLocks noChangeAspect="1"/>
          </p:cNvPicPr>
          <p:nvPr/>
        </p:nvPicPr>
        <p:blipFill>
          <a:blip r:embed="rId6"/>
          <a:stretch>
            <a:fillRect/>
          </a:stretch>
        </p:blipFill>
        <p:spPr>
          <a:xfrm>
            <a:off x="6324442" y="2524621"/>
            <a:ext cx="571486" cy="571500"/>
          </a:xfrm>
          <a:prstGeom prst="rect">
            <a:avLst/>
          </a:prstGeom>
        </p:spPr>
      </p:pic>
      <p:sp>
        <p:nvSpPr>
          <p:cNvPr id="12" name="Text 6"/>
          <p:cNvSpPr/>
          <p:nvPr/>
        </p:nvSpPr>
        <p:spPr>
          <a:xfrm>
            <a:off x="6324442" y="3229570"/>
            <a:ext cx="2416908"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Hidden mentors</a:t>
            </a:r>
            <a:endParaRPr lang="en-US" sz="2200" dirty="0"/>
          </a:p>
        </p:txBody>
      </p:sp>
      <p:sp>
        <p:nvSpPr>
          <p:cNvPr id="13" name="Text 7"/>
          <p:cNvSpPr/>
          <p:nvPr/>
        </p:nvSpPr>
        <p:spPr>
          <a:xfrm>
            <a:off x="6324442" y="3715841"/>
            <a:ext cx="2228794"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Word-of-mouth discovery</a:t>
            </a:r>
            <a:endParaRPr lang="en-US" sz="1600" dirty="0"/>
          </a:p>
        </p:txBody>
      </p:sp>
      <p:pic>
        <p:nvPicPr>
          <p:cNvPr id="15" name="Image 4" descr="preencoded.png"/>
          <p:cNvPicPr>
            <a:picLocks noChangeAspect="1"/>
          </p:cNvPicPr>
          <p:nvPr/>
        </p:nvPicPr>
        <p:blipFill>
          <a:blip r:embed="rId7"/>
          <a:stretch>
            <a:fillRect/>
          </a:stretch>
        </p:blipFill>
        <p:spPr>
          <a:xfrm>
            <a:off x="9067573" y="2524621"/>
            <a:ext cx="571486" cy="571500"/>
          </a:xfrm>
          <a:prstGeom prst="rect">
            <a:avLst/>
          </a:prstGeom>
        </p:spPr>
      </p:pic>
      <p:sp>
        <p:nvSpPr>
          <p:cNvPr id="16" name="Text 9"/>
          <p:cNvSpPr/>
          <p:nvPr/>
        </p:nvSpPr>
        <p:spPr>
          <a:xfrm>
            <a:off x="9067573" y="3229570"/>
            <a:ext cx="2228794" cy="642541"/>
          </a:xfrm>
          <a:prstGeom prst="rect">
            <a:avLst/>
          </a:prstGeom>
          <a:noFill/>
          <a:ln/>
        </p:spPr>
        <p:txBody>
          <a:bodyPr wrap="square" lIns="0" tIns="0" rIns="0" bIns="0" rtlCol="0" anchor="t">
            <a:normAutofit lnSpcReduction="10000"/>
          </a:bodyPr>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Unprotected payments</a:t>
            </a:r>
            <a:endParaRPr lang="en-US" sz="2200" dirty="0"/>
          </a:p>
        </p:txBody>
      </p:sp>
      <p:sp>
        <p:nvSpPr>
          <p:cNvPr id="17" name="Text 10"/>
          <p:cNvSpPr/>
          <p:nvPr/>
        </p:nvSpPr>
        <p:spPr>
          <a:xfrm>
            <a:off x="9067573" y="4037112"/>
            <a:ext cx="3124122"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Times New Roman" panose="02020603050405020304" pitchFamily="18" charset="0"/>
                <a:ea typeface="Hanken Grotesk" pitchFamily="34" charset="-122"/>
                <a:cs typeface="Times New Roman" panose="02020603050405020304" pitchFamily="18" charset="0"/>
              </a:rPr>
              <a:t>bKash tutoring transfers</a:t>
            </a:r>
            <a:endParaRPr lang="en-US" sz="1600" dirty="0"/>
          </a:p>
        </p:txBody>
      </p:sp>
      <p:sp>
        <p:nvSpPr>
          <p:cNvPr id="18" name="Shape 11"/>
          <p:cNvSpPr/>
          <p:nvPr/>
        </p:nvSpPr>
        <p:spPr>
          <a:xfrm>
            <a:off x="8832629" y="2196604"/>
            <a:ext cx="12700" cy="4308078"/>
          </a:xfrm>
          <a:prstGeom prst="rect">
            <a:avLst/>
          </a:prstGeom>
          <a:solidFill>
            <a:srgbClr val="16171D"/>
          </a:solidFill>
          <a:ln/>
        </p:spPr>
      </p:sp>
      <p:sp>
        <p:nvSpPr>
          <p:cNvPr id="19" name="Shape 12"/>
          <p:cNvSpPr/>
          <p:nvPr/>
        </p:nvSpPr>
        <p:spPr>
          <a:xfrm>
            <a:off x="3346366" y="2196604"/>
            <a:ext cx="12700" cy="4308078"/>
          </a:xfrm>
          <a:prstGeom prst="rect">
            <a:avLst/>
          </a:prstGeom>
          <a:solidFill>
            <a:srgbClr val="16171D"/>
          </a:solidFill>
          <a:ln/>
        </p:spPr>
      </p:sp>
      <p:sp>
        <p:nvSpPr>
          <p:cNvPr id="20" name="Shape 13"/>
          <p:cNvSpPr/>
          <p:nvPr/>
        </p:nvSpPr>
        <p:spPr>
          <a:xfrm>
            <a:off x="6089498" y="2196604"/>
            <a:ext cx="12700" cy="4308078"/>
          </a:xfrm>
          <a:prstGeom prst="rect">
            <a:avLst/>
          </a:prstGeom>
          <a:solidFill>
            <a:srgbClr val="16171D"/>
          </a:solidFill>
          <a:ln/>
        </p:spPr>
      </p:sp>
      <p:sp>
        <p:nvSpPr>
          <p:cNvPr id="21" name="Rectangle 20">
            <a:extLst>
              <a:ext uri="{FF2B5EF4-FFF2-40B4-BE49-F238E27FC236}">
                <a16:creationId xmlns:a16="http://schemas.microsoft.com/office/drawing/2014/main" id="{5FB8C3AF-A5A7-BD33-9B0C-02A7B16D2571}"/>
              </a:ext>
            </a:extLst>
          </p:cNvPr>
          <p:cNvSpPr/>
          <p:nvPr/>
        </p:nvSpPr>
        <p:spPr>
          <a:xfrm>
            <a:off x="11055420" y="6522839"/>
            <a:ext cx="1114794" cy="298847"/>
          </a:xfrm>
          <a:prstGeom prst="rect">
            <a:avLst/>
          </a:prstGeom>
          <a:solidFill>
            <a:srgbClr val="FBFAF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Shape 0"/>
          <p:cNvSpPr/>
          <p:nvPr/>
        </p:nvSpPr>
        <p:spPr>
          <a:xfrm>
            <a:off x="0" y="0"/>
            <a:ext cx="5283068" cy="6858099"/>
          </a:xfrm>
          <a:prstGeom prst="rect">
            <a:avLst/>
          </a:prstGeom>
          <a:solidFill>
            <a:srgbClr val="FF8424"/>
          </a:solidFill>
          <a:ln/>
        </p:spPr>
      </p:sp>
      <p:sp>
        <p:nvSpPr>
          <p:cNvPr id="4" name="Text 1"/>
          <p:cNvSpPr/>
          <p:nvPr/>
        </p:nvSpPr>
        <p:spPr>
          <a:xfrm>
            <a:off x="609585" y="500856"/>
            <a:ext cx="4209945" cy="2316163"/>
          </a:xfrm>
          <a:prstGeom prst="rect">
            <a:avLst/>
          </a:prstGeom>
          <a:noFill/>
          <a:ln/>
        </p:spPr>
        <p:txBody>
          <a:bodyPr wrap="square" lIns="0" tIns="0" rIns="0" bIns="0" rtlCol="0" anchor="t">
            <a:normAutofit fontScale="92500"/>
          </a:bodyPr>
          <a:lstStyle/>
          <a:p>
            <a:pPr marL="0" indent="0" algn="l">
              <a:lnSpc>
                <a:spcPct val="79000"/>
              </a:lnSpc>
              <a:buNone/>
            </a:pPr>
            <a:r>
              <a:rPr lang="en-US" sz="4800" kern="100" spc="24" dirty="0">
                <a:solidFill>
                  <a:srgbClr val="000000"/>
                </a:solidFill>
                <a:latin typeface="Times New Roman" panose="02020603050405020304" pitchFamily="18" charset="0"/>
                <a:ea typeface="Big Shoulders ExtraBold" pitchFamily="34" charset="-122"/>
                <a:cs typeface="Times New Roman" panose="02020603050405020304" pitchFamily="18" charset="0"/>
              </a:rPr>
              <a:t>FIVE COMMITMENTS ANSWER THE PROBLEM</a:t>
            </a:r>
            <a:endParaRPr lang="en-US" sz="4800" dirty="0"/>
          </a:p>
        </p:txBody>
      </p:sp>
      <p:sp>
        <p:nvSpPr>
          <p:cNvPr id="5" name="Text 2"/>
          <p:cNvSpPr/>
          <p:nvPr/>
        </p:nvSpPr>
        <p:spPr>
          <a:xfrm>
            <a:off x="609585" y="5707559"/>
            <a:ext cx="4267093" cy="642541"/>
          </a:xfrm>
          <a:prstGeom prst="rect">
            <a:avLst/>
          </a:prstGeom>
          <a:noFill/>
          <a:ln/>
        </p:spPr>
        <p:txBody>
          <a:bodyPr wrap="square" lIns="0" tIns="0" rIns="0" bIns="0" rtlCol="0" anchor="t">
            <a:normAutofit lnSpcReduction="10000"/>
          </a:bodyPr>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One platform.</a:t>
            </a:r>
            <a:endParaRPr lang="en-US" sz="2200" dirty="0"/>
          </a:p>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Trust built in.</a:t>
            </a:r>
            <a:endParaRPr lang="en-US" sz="2200" dirty="0"/>
          </a:p>
        </p:txBody>
      </p:sp>
      <p:pic>
        <p:nvPicPr>
          <p:cNvPr id="6" name="Image 1" descr="preencoded.png"/>
          <p:cNvPicPr>
            <a:picLocks noChangeAspect="1"/>
          </p:cNvPicPr>
          <p:nvPr/>
        </p:nvPicPr>
        <p:blipFill>
          <a:blip r:embed="rId4"/>
          <a:stretch>
            <a:fillRect/>
          </a:stretch>
        </p:blipFill>
        <p:spPr>
          <a:xfrm>
            <a:off x="5791055" y="584398"/>
            <a:ext cx="457189" cy="457200"/>
          </a:xfrm>
          <a:prstGeom prst="rect">
            <a:avLst/>
          </a:prstGeom>
        </p:spPr>
      </p:pic>
      <p:sp>
        <p:nvSpPr>
          <p:cNvPr id="7" name="Text 3"/>
          <p:cNvSpPr/>
          <p:nvPr/>
        </p:nvSpPr>
        <p:spPr>
          <a:xfrm>
            <a:off x="6476838" y="698500"/>
            <a:ext cx="5149721"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Centralize campus information</a:t>
            </a:r>
            <a:endParaRPr lang="en-US" sz="1900" dirty="0"/>
          </a:p>
        </p:txBody>
      </p:sp>
      <p:pic>
        <p:nvPicPr>
          <p:cNvPr id="8" name="Image 2" descr="preencoded.png"/>
          <p:cNvPicPr>
            <a:picLocks noChangeAspect="1"/>
          </p:cNvPicPr>
          <p:nvPr/>
        </p:nvPicPr>
        <p:blipFill>
          <a:blip r:embed="rId5"/>
          <a:stretch>
            <a:fillRect/>
          </a:stretch>
        </p:blipFill>
        <p:spPr>
          <a:xfrm>
            <a:off x="5791055" y="1717675"/>
            <a:ext cx="457189" cy="457200"/>
          </a:xfrm>
          <a:prstGeom prst="rect">
            <a:avLst/>
          </a:prstGeom>
        </p:spPr>
      </p:pic>
      <p:sp>
        <p:nvSpPr>
          <p:cNvPr id="9" name="Text 4"/>
          <p:cNvSpPr/>
          <p:nvPr/>
        </p:nvSpPr>
        <p:spPr>
          <a:xfrm>
            <a:off x="6476838" y="1831677"/>
            <a:ext cx="5149721"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Personalize career guidance</a:t>
            </a:r>
            <a:endParaRPr lang="en-US" sz="1900" dirty="0"/>
          </a:p>
        </p:txBody>
      </p:sp>
      <p:pic>
        <p:nvPicPr>
          <p:cNvPr id="10" name="Image 3" descr="preencoded.png"/>
          <p:cNvPicPr>
            <a:picLocks noChangeAspect="1"/>
          </p:cNvPicPr>
          <p:nvPr/>
        </p:nvPicPr>
        <p:blipFill>
          <a:blip r:embed="rId6"/>
          <a:stretch>
            <a:fillRect/>
          </a:stretch>
        </p:blipFill>
        <p:spPr>
          <a:xfrm>
            <a:off x="5791055" y="2850852"/>
            <a:ext cx="457189" cy="457200"/>
          </a:xfrm>
          <a:prstGeom prst="rect">
            <a:avLst/>
          </a:prstGeom>
        </p:spPr>
      </p:pic>
      <p:sp>
        <p:nvSpPr>
          <p:cNvPr id="11" name="Text 5"/>
          <p:cNvSpPr/>
          <p:nvPr/>
        </p:nvSpPr>
        <p:spPr>
          <a:xfrm>
            <a:off x="6476838" y="2964855"/>
            <a:ext cx="5149721"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Connect verified mentors</a:t>
            </a:r>
            <a:endParaRPr lang="en-US" sz="1900" dirty="0"/>
          </a:p>
        </p:txBody>
      </p:sp>
      <p:pic>
        <p:nvPicPr>
          <p:cNvPr id="12" name="Image 4" descr="preencoded.png"/>
          <p:cNvPicPr>
            <a:picLocks noChangeAspect="1"/>
          </p:cNvPicPr>
          <p:nvPr/>
        </p:nvPicPr>
        <p:blipFill>
          <a:blip r:embed="rId7"/>
          <a:stretch>
            <a:fillRect/>
          </a:stretch>
        </p:blipFill>
        <p:spPr>
          <a:xfrm>
            <a:off x="5791055" y="3984228"/>
            <a:ext cx="457189" cy="457200"/>
          </a:xfrm>
          <a:prstGeom prst="rect">
            <a:avLst/>
          </a:prstGeom>
        </p:spPr>
      </p:pic>
      <p:sp>
        <p:nvSpPr>
          <p:cNvPr id="13" name="Text 6"/>
          <p:cNvSpPr/>
          <p:nvPr/>
        </p:nvSpPr>
        <p:spPr>
          <a:xfrm>
            <a:off x="6476838" y="4098230"/>
            <a:ext cx="5149721"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Protect payments with bKash escrow</a:t>
            </a:r>
            <a:endParaRPr lang="en-US" sz="1900" dirty="0"/>
          </a:p>
        </p:txBody>
      </p:sp>
      <p:pic>
        <p:nvPicPr>
          <p:cNvPr id="14" name="Image 5" descr="preencoded.png"/>
          <p:cNvPicPr>
            <a:picLocks noChangeAspect="1"/>
          </p:cNvPicPr>
          <p:nvPr/>
        </p:nvPicPr>
        <p:blipFill>
          <a:blip r:embed="rId8"/>
          <a:stretch>
            <a:fillRect/>
          </a:stretch>
        </p:blipFill>
        <p:spPr>
          <a:xfrm>
            <a:off x="5791055" y="5117505"/>
            <a:ext cx="457189" cy="457200"/>
          </a:xfrm>
          <a:prstGeom prst="rect">
            <a:avLst/>
          </a:prstGeom>
        </p:spPr>
      </p:pic>
      <p:sp>
        <p:nvSpPr>
          <p:cNvPr id="15" name="Text 7"/>
          <p:cNvSpPr/>
          <p:nvPr/>
        </p:nvSpPr>
        <p:spPr>
          <a:xfrm>
            <a:off x="6476838" y="5231507"/>
            <a:ext cx="5149721" cy="554831"/>
          </a:xfrm>
          <a:prstGeom prst="rect">
            <a:avLst/>
          </a:prstGeom>
          <a:noFill/>
          <a:ln/>
        </p:spPr>
        <p:txBody>
          <a:bodyPr wrap="square" lIns="0" tIns="0" rIns="0" bIns="0" rtlCol="0" anchor="t">
            <a:normAutofit lnSpcReduction="10000"/>
          </a:bodyPr>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Build trust through verification, ratings and oversight</a:t>
            </a:r>
            <a:endParaRPr lang="en-US" sz="1900" dirty="0"/>
          </a:p>
        </p:txBody>
      </p:sp>
      <p:sp>
        <p:nvSpPr>
          <p:cNvPr id="16" name="Shape 8"/>
          <p:cNvSpPr/>
          <p:nvPr/>
        </p:nvSpPr>
        <p:spPr>
          <a:xfrm>
            <a:off x="5791055" y="1634827"/>
            <a:ext cx="5892653" cy="12700"/>
          </a:xfrm>
          <a:prstGeom prst="rect">
            <a:avLst/>
          </a:prstGeom>
          <a:solidFill>
            <a:srgbClr val="16171D"/>
          </a:solidFill>
          <a:ln/>
        </p:spPr>
      </p:sp>
      <p:sp>
        <p:nvSpPr>
          <p:cNvPr id="17" name="Shape 9"/>
          <p:cNvSpPr/>
          <p:nvPr/>
        </p:nvSpPr>
        <p:spPr>
          <a:xfrm>
            <a:off x="5791055" y="2768005"/>
            <a:ext cx="5892653" cy="12700"/>
          </a:xfrm>
          <a:prstGeom prst="rect">
            <a:avLst/>
          </a:prstGeom>
          <a:solidFill>
            <a:srgbClr val="16171D"/>
          </a:solidFill>
          <a:ln/>
        </p:spPr>
      </p:sp>
      <p:sp>
        <p:nvSpPr>
          <p:cNvPr id="18" name="Shape 10"/>
          <p:cNvSpPr/>
          <p:nvPr/>
        </p:nvSpPr>
        <p:spPr>
          <a:xfrm>
            <a:off x="5791055" y="3901380"/>
            <a:ext cx="5892653" cy="12700"/>
          </a:xfrm>
          <a:prstGeom prst="rect">
            <a:avLst/>
          </a:prstGeom>
          <a:solidFill>
            <a:srgbClr val="16171D"/>
          </a:solidFill>
          <a:ln/>
        </p:spPr>
      </p:sp>
      <p:sp>
        <p:nvSpPr>
          <p:cNvPr id="19" name="Shape 11"/>
          <p:cNvSpPr/>
          <p:nvPr/>
        </p:nvSpPr>
        <p:spPr>
          <a:xfrm>
            <a:off x="5791055" y="5034657"/>
            <a:ext cx="5892653" cy="12700"/>
          </a:xfrm>
          <a:prstGeom prst="rect">
            <a:avLst/>
          </a:prstGeom>
          <a:solidFill>
            <a:srgbClr val="16171D"/>
          </a:solidFill>
          <a:ln/>
        </p:spPr>
      </p:sp>
      <p:sp>
        <p:nvSpPr>
          <p:cNvPr id="20" name="Rectangle 19">
            <a:extLst>
              <a:ext uri="{FF2B5EF4-FFF2-40B4-BE49-F238E27FC236}">
                <a16:creationId xmlns:a16="http://schemas.microsoft.com/office/drawing/2014/main" id="{995E5F49-D684-22D6-F90B-3B2A428E8481}"/>
              </a:ext>
            </a:extLst>
          </p:cNvPr>
          <p:cNvSpPr/>
          <p:nvPr/>
        </p:nvSpPr>
        <p:spPr>
          <a:xfrm>
            <a:off x="11055420" y="6522839"/>
            <a:ext cx="1114794" cy="298847"/>
          </a:xfrm>
          <a:prstGeom prst="rect">
            <a:avLst/>
          </a:prstGeom>
          <a:solidFill>
            <a:srgbClr val="FBFAF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508000"/>
            <a:ext cx="10915377" cy="579041"/>
          </a:xfrm>
          <a:prstGeom prst="rect">
            <a:avLst/>
          </a:prstGeom>
          <a:noFill/>
          <a:ln/>
        </p:spPr>
        <p:txBody>
          <a:bodyPr wrap="none" lIns="0" tIns="0" rIns="0" bIns="0" rtlCol="0" anchor="t"/>
          <a:lstStyle/>
          <a:p>
            <a:pPr marL="0" indent="0" algn="l">
              <a:lnSpc>
                <a:spcPct val="79000"/>
              </a:lnSpc>
              <a:buNone/>
            </a:pPr>
            <a:r>
              <a:rPr lang="en-US" sz="48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THREE PILLARS, ONE VERIFIED LOGIN</a:t>
            </a:r>
            <a:endParaRPr lang="en-US" sz="4800" dirty="0"/>
          </a:p>
        </p:txBody>
      </p:sp>
      <p:pic>
        <p:nvPicPr>
          <p:cNvPr id="3" name="Image 0" descr="preencoded.png"/>
          <p:cNvPicPr>
            <a:picLocks noChangeAspect="1"/>
          </p:cNvPicPr>
          <p:nvPr/>
        </p:nvPicPr>
        <p:blipFill>
          <a:blip r:embed="rId3"/>
          <a:stretch>
            <a:fillRect/>
          </a:stretch>
        </p:blipFill>
        <p:spPr>
          <a:xfrm>
            <a:off x="507987" y="2476500"/>
            <a:ext cx="571486" cy="571500"/>
          </a:xfrm>
          <a:prstGeom prst="rect">
            <a:avLst/>
          </a:prstGeom>
        </p:spPr>
      </p:pic>
      <p:sp>
        <p:nvSpPr>
          <p:cNvPr id="4" name="Text 1"/>
          <p:cNvSpPr/>
          <p:nvPr/>
        </p:nvSpPr>
        <p:spPr>
          <a:xfrm>
            <a:off x="507987" y="3254474"/>
            <a:ext cx="2990775"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Campus Info Hub</a:t>
            </a:r>
            <a:endParaRPr lang="en-US" sz="2200" dirty="0"/>
          </a:p>
        </p:txBody>
      </p:sp>
      <p:sp>
        <p:nvSpPr>
          <p:cNvPr id="5" name="Text 2"/>
          <p:cNvSpPr/>
          <p:nvPr/>
        </p:nvSpPr>
        <p:spPr>
          <a:xfrm>
            <a:off x="507987" y="3740745"/>
            <a:ext cx="4226811" cy="284460"/>
          </a:xfrm>
          <a:prstGeom prst="rect">
            <a:avLst/>
          </a:prstGeom>
          <a:noFill/>
          <a:ln/>
        </p:spPr>
        <p:txBody>
          <a:bodyPr wrap="none" lIns="0" tIns="0" rIns="0" bIns="0" rtlCol="0" anchor="t"/>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Campus information in one place</a:t>
            </a:r>
            <a:endParaRPr lang="en-US" sz="1600" dirty="0"/>
          </a:p>
        </p:txBody>
      </p:sp>
      <p:pic>
        <p:nvPicPr>
          <p:cNvPr id="6" name="Image 1" descr="preencoded.png"/>
          <p:cNvPicPr>
            <a:picLocks noChangeAspect="1"/>
          </p:cNvPicPr>
          <p:nvPr/>
        </p:nvPicPr>
        <p:blipFill>
          <a:blip r:embed="rId4"/>
          <a:stretch>
            <a:fillRect/>
          </a:stretch>
        </p:blipFill>
        <p:spPr>
          <a:xfrm>
            <a:off x="4571886" y="2476500"/>
            <a:ext cx="571486" cy="571500"/>
          </a:xfrm>
          <a:prstGeom prst="rect">
            <a:avLst/>
          </a:prstGeom>
        </p:spPr>
      </p:pic>
      <p:sp>
        <p:nvSpPr>
          <p:cNvPr id="7" name="Text 3"/>
          <p:cNvSpPr/>
          <p:nvPr/>
        </p:nvSpPr>
        <p:spPr>
          <a:xfrm>
            <a:off x="4571886" y="3254474"/>
            <a:ext cx="2990775"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Career Path Finder</a:t>
            </a:r>
            <a:endParaRPr lang="en-US" sz="2200" dirty="0"/>
          </a:p>
        </p:txBody>
      </p:sp>
      <p:sp>
        <p:nvSpPr>
          <p:cNvPr id="8" name="Text 4"/>
          <p:cNvSpPr/>
          <p:nvPr/>
        </p:nvSpPr>
        <p:spPr>
          <a:xfrm>
            <a:off x="4571886" y="3740745"/>
            <a:ext cx="4108347" cy="284460"/>
          </a:xfrm>
          <a:prstGeom prst="rect">
            <a:avLst/>
          </a:prstGeom>
          <a:noFill/>
          <a:ln/>
        </p:spPr>
        <p:txBody>
          <a:bodyPr wrap="none" lIns="0" tIns="0" rIns="0" bIns="0" rtlCol="0" anchor="t"/>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Guidance shaped by a profile</a:t>
            </a:r>
            <a:endParaRPr lang="en-US" sz="1600" dirty="0"/>
          </a:p>
        </p:txBody>
      </p:sp>
      <p:pic>
        <p:nvPicPr>
          <p:cNvPr id="9" name="Image 2" descr="preencoded.png"/>
          <p:cNvPicPr>
            <a:picLocks noChangeAspect="1"/>
          </p:cNvPicPr>
          <p:nvPr/>
        </p:nvPicPr>
        <p:blipFill>
          <a:blip r:embed="rId5"/>
          <a:stretch>
            <a:fillRect/>
          </a:stretch>
        </p:blipFill>
        <p:spPr>
          <a:xfrm>
            <a:off x="8635784" y="2476500"/>
            <a:ext cx="571486" cy="571500"/>
          </a:xfrm>
          <a:prstGeom prst="rect">
            <a:avLst/>
          </a:prstGeom>
        </p:spPr>
      </p:pic>
      <p:sp>
        <p:nvSpPr>
          <p:cNvPr id="10" name="Text 5"/>
          <p:cNvSpPr/>
          <p:nvPr/>
        </p:nvSpPr>
        <p:spPr>
          <a:xfrm>
            <a:off x="8635784" y="3254474"/>
            <a:ext cx="3358371"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Mentor-Powered Help</a:t>
            </a:r>
            <a:endParaRPr lang="en-US" sz="2200" dirty="0"/>
          </a:p>
        </p:txBody>
      </p:sp>
      <p:sp>
        <p:nvSpPr>
          <p:cNvPr id="11" name="Text 6"/>
          <p:cNvSpPr/>
          <p:nvPr/>
        </p:nvSpPr>
        <p:spPr>
          <a:xfrm>
            <a:off x="8635784" y="3740745"/>
            <a:ext cx="299077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Verified people, bookable services</a:t>
            </a:r>
            <a:endParaRPr lang="en-US" sz="1600" dirty="0"/>
          </a:p>
        </p:txBody>
      </p:sp>
      <p:sp>
        <p:nvSpPr>
          <p:cNvPr id="12" name="Shape 7"/>
          <p:cNvSpPr/>
          <p:nvPr/>
        </p:nvSpPr>
        <p:spPr>
          <a:xfrm>
            <a:off x="0" y="5486499"/>
            <a:ext cx="12191695" cy="1371600"/>
          </a:xfrm>
          <a:prstGeom prst="rect">
            <a:avLst/>
          </a:prstGeom>
          <a:solidFill>
            <a:srgbClr val="FF8424"/>
          </a:solidFill>
          <a:ln/>
        </p:spPr>
      </p:sp>
      <p:sp>
        <p:nvSpPr>
          <p:cNvPr id="13" name="Text 8"/>
          <p:cNvSpPr/>
          <p:nvPr/>
        </p:nvSpPr>
        <p:spPr>
          <a:xfrm>
            <a:off x="609585" y="5765899"/>
            <a:ext cx="10915377"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All behind @uiu.ac.bd email verification</a:t>
            </a:r>
            <a:endParaRPr lang="en-US" sz="2200" dirty="0"/>
          </a:p>
        </p:txBody>
      </p:sp>
      <p:sp>
        <p:nvSpPr>
          <p:cNvPr id="14" name="Shape 9"/>
          <p:cNvSpPr/>
          <p:nvPr/>
        </p:nvSpPr>
        <p:spPr>
          <a:xfrm>
            <a:off x="4057548" y="2171700"/>
            <a:ext cx="12700" cy="3314799"/>
          </a:xfrm>
          <a:prstGeom prst="rect">
            <a:avLst/>
          </a:prstGeom>
          <a:solidFill>
            <a:srgbClr val="16171D"/>
          </a:solidFill>
          <a:ln/>
        </p:spPr>
      </p:sp>
      <p:sp>
        <p:nvSpPr>
          <p:cNvPr id="15" name="Shape 10"/>
          <p:cNvSpPr/>
          <p:nvPr/>
        </p:nvSpPr>
        <p:spPr>
          <a:xfrm>
            <a:off x="8121447" y="2171700"/>
            <a:ext cx="12700" cy="3314799"/>
          </a:xfrm>
          <a:prstGeom prst="rect">
            <a:avLst/>
          </a:prstGeom>
          <a:solidFill>
            <a:srgbClr val="16171D"/>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450056"/>
            <a:ext cx="3854354" cy="1158081"/>
          </a:xfrm>
          <a:prstGeom prst="rect">
            <a:avLst/>
          </a:prstGeom>
          <a:noFill/>
          <a:ln/>
        </p:spPr>
        <p:txBody>
          <a:bodyPr wrap="square" lIns="0" tIns="0" rIns="0" bIns="0" rtlCol="0" anchor="t">
            <a:noAutofit/>
          </a:bodyPr>
          <a:lstStyle/>
          <a:p>
            <a:pPr marL="0" indent="0" algn="l">
              <a:lnSpc>
                <a:spcPct val="79000"/>
              </a:lnSpc>
              <a:buNone/>
            </a:pPr>
            <a:r>
              <a:rPr lang="en-US" sz="40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FIND A MENTOR IN MINUTES</a:t>
            </a:r>
            <a:endParaRPr lang="en-US" sz="4000" dirty="0"/>
          </a:p>
        </p:txBody>
      </p:sp>
      <p:sp>
        <p:nvSpPr>
          <p:cNvPr id="3" name="Shape 1"/>
          <p:cNvSpPr/>
          <p:nvPr/>
        </p:nvSpPr>
        <p:spPr>
          <a:xfrm>
            <a:off x="609585" y="1872456"/>
            <a:ext cx="380990" cy="381000"/>
          </a:xfrm>
          <a:prstGeom prst="rect">
            <a:avLst/>
          </a:prstGeom>
          <a:solidFill>
            <a:srgbClr val="16171D"/>
          </a:solidFill>
          <a:ln/>
        </p:spPr>
      </p:sp>
      <p:sp>
        <p:nvSpPr>
          <p:cNvPr id="4" name="Text 2"/>
          <p:cNvSpPr/>
          <p:nvPr/>
        </p:nvSpPr>
        <p:spPr>
          <a:xfrm>
            <a:off x="693224" y="1967706"/>
            <a:ext cx="1375336" cy="190500"/>
          </a:xfrm>
          <a:prstGeom prst="rect">
            <a:avLst/>
          </a:prstGeom>
          <a:noFill/>
          <a:ln/>
        </p:spPr>
        <p:txBody>
          <a:bodyPr wrap="none" lIns="0" tIns="0" rIns="0" bIns="0" rtlCol="0" anchor="t"/>
          <a:lstStyle/>
          <a:p>
            <a:pPr marL="0" indent="0" algn="l">
              <a:lnSpc>
                <a:spcPct val="83000"/>
              </a:lnSpc>
              <a:buNone/>
            </a:pPr>
            <a:r>
              <a:rPr lang="en-US" sz="1500" b="1" dirty="0">
                <a:solidFill>
                  <a:srgbClr val="FFFFFF"/>
                </a:solidFill>
                <a:latin typeface="Times New Roman" panose="02020603050405020304" pitchFamily="18" charset="0"/>
                <a:ea typeface="Hanken Grotesk Bold" pitchFamily="34" charset="-122"/>
                <a:cs typeface="Times New Roman" panose="02020603050405020304" pitchFamily="18" charset="0"/>
              </a:rPr>
              <a:t>01</a:t>
            </a:r>
            <a:endParaRPr lang="en-US" sz="1500" dirty="0"/>
          </a:p>
        </p:txBody>
      </p:sp>
      <p:sp>
        <p:nvSpPr>
          <p:cNvPr id="5" name="Shape 3"/>
          <p:cNvSpPr/>
          <p:nvPr/>
        </p:nvSpPr>
        <p:spPr>
          <a:xfrm>
            <a:off x="609585" y="2345035"/>
            <a:ext cx="3911502" cy="19050"/>
          </a:xfrm>
          <a:prstGeom prst="rect">
            <a:avLst/>
          </a:prstGeom>
          <a:solidFill>
            <a:srgbClr val="FF8424"/>
          </a:solidFill>
          <a:ln/>
        </p:spPr>
      </p:sp>
      <p:sp>
        <p:nvSpPr>
          <p:cNvPr id="6" name="Text 4"/>
          <p:cNvSpPr/>
          <p:nvPr/>
        </p:nvSpPr>
        <p:spPr>
          <a:xfrm>
            <a:off x="609585" y="2501106"/>
            <a:ext cx="3854354"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Browse services</a:t>
            </a:r>
            <a:endParaRPr lang="en-US" sz="1900" dirty="0"/>
          </a:p>
        </p:txBody>
      </p:sp>
      <p:sp>
        <p:nvSpPr>
          <p:cNvPr id="7" name="Text 5"/>
          <p:cNvSpPr/>
          <p:nvPr/>
        </p:nvSpPr>
        <p:spPr>
          <a:xfrm>
            <a:off x="609585" y="2943721"/>
            <a:ext cx="4463938" cy="284460"/>
          </a:xfrm>
          <a:prstGeom prst="rect">
            <a:avLst/>
          </a:prstGeom>
          <a:noFill/>
          <a:ln/>
        </p:spPr>
        <p:txBody>
          <a:bodyPr wrap="none" lIns="0" tIns="0" rIns="0" bIns="0" rtlCol="0" anchor="t"/>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Category and department</a:t>
            </a:r>
            <a:endParaRPr lang="en-US" sz="1600" dirty="0"/>
          </a:p>
        </p:txBody>
      </p:sp>
      <p:sp>
        <p:nvSpPr>
          <p:cNvPr id="8" name="Shape 6"/>
          <p:cNvSpPr/>
          <p:nvPr/>
        </p:nvSpPr>
        <p:spPr>
          <a:xfrm>
            <a:off x="609585" y="3532981"/>
            <a:ext cx="380990" cy="381000"/>
          </a:xfrm>
          <a:prstGeom prst="rect">
            <a:avLst/>
          </a:prstGeom>
          <a:solidFill>
            <a:srgbClr val="16171D"/>
          </a:solidFill>
          <a:ln/>
        </p:spPr>
      </p:sp>
      <p:sp>
        <p:nvSpPr>
          <p:cNvPr id="9" name="Text 7"/>
          <p:cNvSpPr/>
          <p:nvPr/>
        </p:nvSpPr>
        <p:spPr>
          <a:xfrm>
            <a:off x="693224" y="3628231"/>
            <a:ext cx="1375336" cy="190500"/>
          </a:xfrm>
          <a:prstGeom prst="rect">
            <a:avLst/>
          </a:prstGeom>
          <a:noFill/>
          <a:ln/>
        </p:spPr>
        <p:txBody>
          <a:bodyPr wrap="none" lIns="0" tIns="0" rIns="0" bIns="0" rtlCol="0" anchor="t"/>
          <a:lstStyle/>
          <a:p>
            <a:pPr marL="0" indent="0" algn="l">
              <a:lnSpc>
                <a:spcPct val="83000"/>
              </a:lnSpc>
              <a:buNone/>
            </a:pPr>
            <a:r>
              <a:rPr lang="en-US" sz="1500" b="1" dirty="0">
                <a:solidFill>
                  <a:srgbClr val="FFFFFF"/>
                </a:solidFill>
                <a:latin typeface="Times New Roman" panose="02020603050405020304" pitchFamily="18" charset="0"/>
                <a:ea typeface="Hanken Grotesk Bold" pitchFamily="34" charset="-122"/>
                <a:cs typeface="Times New Roman" panose="02020603050405020304" pitchFamily="18" charset="0"/>
              </a:rPr>
              <a:t>02</a:t>
            </a:r>
            <a:endParaRPr lang="en-US" sz="1500" dirty="0"/>
          </a:p>
        </p:txBody>
      </p:sp>
      <p:sp>
        <p:nvSpPr>
          <p:cNvPr id="10" name="Shape 8"/>
          <p:cNvSpPr/>
          <p:nvPr/>
        </p:nvSpPr>
        <p:spPr>
          <a:xfrm>
            <a:off x="609585" y="4005362"/>
            <a:ext cx="3911502" cy="19050"/>
          </a:xfrm>
          <a:prstGeom prst="rect">
            <a:avLst/>
          </a:prstGeom>
          <a:solidFill>
            <a:srgbClr val="FF8424"/>
          </a:solidFill>
          <a:ln/>
        </p:spPr>
      </p:sp>
      <p:sp>
        <p:nvSpPr>
          <p:cNvPr id="11" name="Text 9"/>
          <p:cNvSpPr/>
          <p:nvPr/>
        </p:nvSpPr>
        <p:spPr>
          <a:xfrm>
            <a:off x="609585" y="4161631"/>
            <a:ext cx="3854354"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Compare mentors</a:t>
            </a:r>
            <a:endParaRPr lang="en-US" sz="1900" dirty="0"/>
          </a:p>
        </p:txBody>
      </p:sp>
      <p:sp>
        <p:nvSpPr>
          <p:cNvPr id="12" name="Text 10"/>
          <p:cNvSpPr/>
          <p:nvPr/>
        </p:nvSpPr>
        <p:spPr>
          <a:xfrm>
            <a:off x="609585" y="4604048"/>
            <a:ext cx="4463938" cy="284460"/>
          </a:xfrm>
          <a:prstGeom prst="rect">
            <a:avLst/>
          </a:prstGeom>
          <a:noFill/>
          <a:ln/>
        </p:spPr>
        <p:txBody>
          <a:bodyPr wrap="none" lIns="0" tIns="0" rIns="0" bIns="0" rtlCol="0" anchor="t"/>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Ratings and prices visible</a:t>
            </a:r>
            <a:endParaRPr lang="en-US" sz="1600" dirty="0"/>
          </a:p>
        </p:txBody>
      </p:sp>
      <p:sp>
        <p:nvSpPr>
          <p:cNvPr id="13" name="Shape 11"/>
          <p:cNvSpPr/>
          <p:nvPr/>
        </p:nvSpPr>
        <p:spPr>
          <a:xfrm>
            <a:off x="609585" y="5094982"/>
            <a:ext cx="3911502" cy="1461591"/>
          </a:xfrm>
          <a:prstGeom prst="rect">
            <a:avLst/>
          </a:prstGeom>
          <a:solidFill>
            <a:srgbClr val="FF8424"/>
          </a:solidFill>
          <a:ln/>
        </p:spPr>
      </p:sp>
      <p:sp>
        <p:nvSpPr>
          <p:cNvPr id="14" name="Text 12"/>
          <p:cNvSpPr/>
          <p:nvPr/>
        </p:nvSpPr>
        <p:spPr>
          <a:xfrm>
            <a:off x="838179" y="5323582"/>
            <a:ext cx="3397165" cy="554831"/>
          </a:xfrm>
          <a:prstGeom prst="rect">
            <a:avLst/>
          </a:prstGeom>
          <a:noFill/>
          <a:ln/>
        </p:spPr>
        <p:txBody>
          <a:bodyPr wrap="square" lIns="0" tIns="0" rIns="0" bIns="0" rtlCol="0" anchor="t">
            <a:normAutofit lnSpcReduction="10000"/>
          </a:bodyPr>
          <a:lstStyle/>
          <a:p>
            <a:pPr marL="0" indent="0" algn="l">
              <a:lnSpc>
                <a:spcPct val="96000"/>
              </a:lnSpc>
              <a:buNone/>
            </a:pPr>
            <a:r>
              <a:rPr lang="en-US" sz="1900" b="1" kern="100" spc="-9" dirty="0">
                <a:solidFill>
                  <a:srgbClr val="000000"/>
                </a:solidFill>
                <a:latin typeface="Times New Roman" panose="02020603050405020304" pitchFamily="18" charset="0"/>
                <a:ea typeface="Hanken Grotesk Bold" pitchFamily="34" charset="-122"/>
                <a:cs typeface="Times New Roman" panose="02020603050405020304" pitchFamily="18" charset="0"/>
              </a:rPr>
              <a:t>Machine Learning Career Roadmap</a:t>
            </a:r>
            <a:endParaRPr lang="en-US" sz="1900" dirty="0"/>
          </a:p>
        </p:txBody>
      </p:sp>
      <p:sp>
        <p:nvSpPr>
          <p:cNvPr id="15" name="Text 13"/>
          <p:cNvSpPr/>
          <p:nvPr/>
        </p:nvSpPr>
        <p:spPr>
          <a:xfrm>
            <a:off x="838179" y="6043513"/>
            <a:ext cx="4235344"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Times New Roman" panose="02020603050405020304" pitchFamily="18" charset="0"/>
                <a:ea typeface="Hanken Grotesk" pitchFamily="34" charset="-122"/>
                <a:cs typeface="Times New Roman" panose="02020603050405020304" pitchFamily="18" charset="0"/>
              </a:rPr>
              <a:t>Dr. Rafiqul Islam · 4.9 stars</a:t>
            </a:r>
            <a:endParaRPr lang="en-US" sz="1600" dirty="0"/>
          </a:p>
        </p:txBody>
      </p:sp>
      <p:sp>
        <p:nvSpPr>
          <p:cNvPr id="16" name="Shape 14"/>
          <p:cNvSpPr/>
          <p:nvPr/>
        </p:nvSpPr>
        <p:spPr>
          <a:xfrm>
            <a:off x="4876678" y="0"/>
            <a:ext cx="7315017" cy="6861373"/>
          </a:xfrm>
          <a:prstGeom prst="rect">
            <a:avLst/>
          </a:prstGeom>
          <a:solidFill>
            <a:srgbClr val="16171D"/>
          </a:solidFill>
          <a:ln/>
        </p:spPr>
      </p:sp>
      <p:pic>
        <p:nvPicPr>
          <p:cNvPr id="21" name="Picture 20">
            <a:extLst>
              <a:ext uri="{FF2B5EF4-FFF2-40B4-BE49-F238E27FC236}">
                <a16:creationId xmlns:a16="http://schemas.microsoft.com/office/drawing/2014/main" id="{0AEDB174-237B-EDE2-B024-B1C177598AD5}"/>
              </a:ext>
            </a:extLst>
          </p:cNvPr>
          <p:cNvPicPr>
            <a:picLocks noChangeAspect="1"/>
          </p:cNvPicPr>
          <p:nvPr/>
        </p:nvPicPr>
        <p:blipFill>
          <a:blip r:embed="rId3"/>
          <a:stretch>
            <a:fillRect/>
          </a:stretch>
        </p:blipFill>
        <p:spPr>
          <a:xfrm>
            <a:off x="5257668" y="368679"/>
            <a:ext cx="6427631" cy="2883893"/>
          </a:xfrm>
          <a:prstGeom prst="rect">
            <a:avLst/>
          </a:prstGeom>
        </p:spPr>
      </p:pic>
      <p:pic>
        <p:nvPicPr>
          <p:cNvPr id="25" name="Picture 24">
            <a:extLst>
              <a:ext uri="{FF2B5EF4-FFF2-40B4-BE49-F238E27FC236}">
                <a16:creationId xmlns:a16="http://schemas.microsoft.com/office/drawing/2014/main" id="{FDF3885F-1DFF-C496-237A-EE8D55637DD5}"/>
              </a:ext>
            </a:extLst>
          </p:cNvPr>
          <p:cNvPicPr>
            <a:picLocks noChangeAspect="1"/>
          </p:cNvPicPr>
          <p:nvPr/>
        </p:nvPicPr>
        <p:blipFill>
          <a:blip r:embed="rId4"/>
          <a:stretch>
            <a:fillRect/>
          </a:stretch>
        </p:blipFill>
        <p:spPr>
          <a:xfrm>
            <a:off x="5258718" y="3628231"/>
            <a:ext cx="6426581" cy="28838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Shape 0"/>
          <p:cNvSpPr/>
          <p:nvPr/>
        </p:nvSpPr>
        <p:spPr>
          <a:xfrm>
            <a:off x="0" y="0"/>
            <a:ext cx="7315017" cy="6858099"/>
          </a:xfrm>
          <a:prstGeom prst="rect">
            <a:avLst/>
          </a:prstGeom>
          <a:solidFill>
            <a:srgbClr val="16171D"/>
          </a:solidFill>
          <a:ln/>
        </p:spPr>
      </p:sp>
      <p:sp>
        <p:nvSpPr>
          <p:cNvPr id="5" name="Text 1"/>
          <p:cNvSpPr/>
          <p:nvPr/>
        </p:nvSpPr>
        <p:spPr>
          <a:xfrm>
            <a:off x="7670608" y="399256"/>
            <a:ext cx="3955951" cy="1737122"/>
          </a:xfrm>
          <a:prstGeom prst="rect">
            <a:avLst/>
          </a:prstGeom>
          <a:noFill/>
          <a:ln/>
        </p:spPr>
        <p:txBody>
          <a:bodyPr wrap="square" lIns="0" tIns="0" rIns="0" bIns="0" rtlCol="0" anchor="t">
            <a:noAutofit/>
          </a:bodyPr>
          <a:lstStyle/>
          <a:p>
            <a:pPr marL="0" indent="0" algn="l">
              <a:lnSpc>
                <a:spcPct val="79000"/>
              </a:lnSpc>
              <a:buNone/>
            </a:pPr>
            <a:r>
              <a:rPr lang="en-US" sz="40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ESCROW PROTECTS EVERY PAYMENT</a:t>
            </a:r>
            <a:endParaRPr lang="en-US" sz="4000" dirty="0"/>
          </a:p>
        </p:txBody>
      </p:sp>
      <p:sp>
        <p:nvSpPr>
          <p:cNvPr id="6" name="Shape 2"/>
          <p:cNvSpPr/>
          <p:nvPr/>
        </p:nvSpPr>
        <p:spPr>
          <a:xfrm>
            <a:off x="7670608" y="2423021"/>
            <a:ext cx="4013100" cy="1624509"/>
          </a:xfrm>
          <a:prstGeom prst="rect">
            <a:avLst/>
          </a:prstGeom>
          <a:solidFill>
            <a:srgbClr val="FF8424"/>
          </a:solidFill>
          <a:ln/>
        </p:spPr>
      </p:sp>
      <p:sp>
        <p:nvSpPr>
          <p:cNvPr id="7" name="Text 3"/>
          <p:cNvSpPr/>
          <p:nvPr/>
        </p:nvSpPr>
        <p:spPr>
          <a:xfrm>
            <a:off x="7899202" y="2651621"/>
            <a:ext cx="3498762" cy="654248"/>
          </a:xfrm>
          <a:prstGeom prst="rect">
            <a:avLst/>
          </a:prstGeom>
          <a:noFill/>
          <a:ln/>
        </p:spPr>
        <p:txBody>
          <a:bodyPr wrap="none" lIns="0" tIns="0" rIns="0" bIns="0" rtlCol="0" anchor="t"/>
          <a:lstStyle/>
          <a:p>
            <a:pPr marL="0" indent="0" algn="l">
              <a:lnSpc>
                <a:spcPct val="77000"/>
              </a:lnSpc>
              <a:buNone/>
            </a:pPr>
            <a:r>
              <a:rPr lang="en-US" sz="5600" dirty="0">
                <a:solidFill>
                  <a:srgbClr val="000000"/>
                </a:solidFill>
                <a:latin typeface="Times New Roman" panose="02020603050405020304" pitchFamily="18" charset="0"/>
                <a:ea typeface="Big Shoulders ExtraBold" pitchFamily="34" charset="-122"/>
                <a:cs typeface="Times New Roman" panose="02020603050405020304" pitchFamily="18" charset="0"/>
              </a:rPr>
              <a:t>525 TAKA</a:t>
            </a:r>
            <a:endParaRPr lang="en-US" sz="5600" dirty="0"/>
          </a:p>
        </p:txBody>
      </p:sp>
      <p:sp>
        <p:nvSpPr>
          <p:cNvPr id="8" name="Text 4"/>
          <p:cNvSpPr/>
          <p:nvPr/>
        </p:nvSpPr>
        <p:spPr>
          <a:xfrm>
            <a:off x="7899202" y="3534370"/>
            <a:ext cx="4292493"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Times New Roman" panose="02020603050405020304" pitchFamily="18" charset="0"/>
                <a:ea typeface="Hanken Grotesk" pitchFamily="34" charset="-122"/>
                <a:cs typeface="Times New Roman" panose="02020603050405020304" pitchFamily="18" charset="0"/>
              </a:rPr>
              <a:t>500 service fee + 5% commission</a:t>
            </a:r>
            <a:endParaRPr lang="en-US" sz="1600" dirty="0"/>
          </a:p>
        </p:txBody>
      </p:sp>
      <p:sp>
        <p:nvSpPr>
          <p:cNvPr id="9" name="Shape 5"/>
          <p:cNvSpPr/>
          <p:nvPr/>
        </p:nvSpPr>
        <p:spPr>
          <a:xfrm>
            <a:off x="7670608" y="4315023"/>
            <a:ext cx="380990" cy="381000"/>
          </a:xfrm>
          <a:prstGeom prst="ellipse">
            <a:avLst/>
          </a:prstGeom>
          <a:solidFill>
            <a:srgbClr val="16171D"/>
          </a:solidFill>
          <a:ln w="6350">
            <a:solidFill>
              <a:srgbClr val="D5D3CA"/>
            </a:solidFill>
            <a:prstDash val="solid"/>
          </a:ln>
        </p:spPr>
      </p:sp>
      <p:sp>
        <p:nvSpPr>
          <p:cNvPr id="10" name="Text 6"/>
          <p:cNvSpPr/>
          <p:nvPr/>
        </p:nvSpPr>
        <p:spPr>
          <a:xfrm>
            <a:off x="7807725" y="4410273"/>
            <a:ext cx="1268778" cy="190500"/>
          </a:xfrm>
          <a:prstGeom prst="rect">
            <a:avLst/>
          </a:prstGeom>
          <a:noFill/>
          <a:ln/>
        </p:spPr>
        <p:txBody>
          <a:bodyPr wrap="none" lIns="0" tIns="0" rIns="0" bIns="0" rtlCol="0" anchor="t"/>
          <a:lstStyle/>
          <a:p>
            <a:pPr marL="0" indent="0" algn="l">
              <a:lnSpc>
                <a:spcPct val="83000"/>
              </a:lnSpc>
              <a:buNone/>
            </a:pPr>
            <a:r>
              <a:rPr lang="en-US" sz="1500" b="1" dirty="0">
                <a:solidFill>
                  <a:srgbClr val="FFFFFF"/>
                </a:solidFill>
                <a:latin typeface="Times New Roman" panose="02020603050405020304" pitchFamily="18" charset="0"/>
                <a:ea typeface="Hanken Grotesk Bold" pitchFamily="34" charset="-122"/>
                <a:cs typeface="Times New Roman" panose="02020603050405020304" pitchFamily="18" charset="0"/>
              </a:rPr>
              <a:t>1</a:t>
            </a:r>
            <a:endParaRPr lang="en-US" sz="1500" dirty="0"/>
          </a:p>
        </p:txBody>
      </p:sp>
      <p:sp>
        <p:nvSpPr>
          <p:cNvPr id="11" name="Text 7"/>
          <p:cNvSpPr/>
          <p:nvPr/>
        </p:nvSpPr>
        <p:spPr>
          <a:xfrm>
            <a:off x="8229394" y="4353123"/>
            <a:ext cx="3397165"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Pay through bKash</a:t>
            </a:r>
            <a:endParaRPr lang="en-US" sz="1900" dirty="0"/>
          </a:p>
        </p:txBody>
      </p:sp>
      <p:sp>
        <p:nvSpPr>
          <p:cNvPr id="12" name="Shape 8"/>
          <p:cNvSpPr/>
          <p:nvPr/>
        </p:nvSpPr>
        <p:spPr>
          <a:xfrm>
            <a:off x="7670608" y="5000823"/>
            <a:ext cx="380990" cy="381000"/>
          </a:xfrm>
          <a:prstGeom prst="ellipse">
            <a:avLst/>
          </a:prstGeom>
          <a:solidFill>
            <a:srgbClr val="16171D"/>
          </a:solidFill>
          <a:ln w="6350">
            <a:solidFill>
              <a:srgbClr val="D5D3CA"/>
            </a:solidFill>
            <a:prstDash val="solid"/>
          </a:ln>
        </p:spPr>
      </p:sp>
      <p:sp>
        <p:nvSpPr>
          <p:cNvPr id="13" name="Text 9"/>
          <p:cNvSpPr/>
          <p:nvPr/>
        </p:nvSpPr>
        <p:spPr>
          <a:xfrm>
            <a:off x="7807725" y="5096073"/>
            <a:ext cx="1268778" cy="190500"/>
          </a:xfrm>
          <a:prstGeom prst="rect">
            <a:avLst/>
          </a:prstGeom>
          <a:noFill/>
          <a:ln/>
        </p:spPr>
        <p:txBody>
          <a:bodyPr wrap="none" lIns="0" tIns="0" rIns="0" bIns="0" rtlCol="0" anchor="t"/>
          <a:lstStyle/>
          <a:p>
            <a:pPr marL="0" indent="0" algn="l">
              <a:lnSpc>
                <a:spcPct val="83000"/>
              </a:lnSpc>
              <a:buNone/>
            </a:pPr>
            <a:r>
              <a:rPr lang="en-US" sz="1500" b="1" dirty="0">
                <a:solidFill>
                  <a:srgbClr val="FFFFFF"/>
                </a:solidFill>
                <a:latin typeface="Times New Roman" panose="02020603050405020304" pitchFamily="18" charset="0"/>
                <a:ea typeface="Hanken Grotesk Bold" pitchFamily="34" charset="-122"/>
                <a:cs typeface="Times New Roman" panose="02020603050405020304" pitchFamily="18" charset="0"/>
              </a:rPr>
              <a:t>2</a:t>
            </a:r>
            <a:endParaRPr lang="en-US" sz="1500" dirty="0"/>
          </a:p>
        </p:txBody>
      </p:sp>
      <p:sp>
        <p:nvSpPr>
          <p:cNvPr id="14" name="Text 10"/>
          <p:cNvSpPr/>
          <p:nvPr/>
        </p:nvSpPr>
        <p:spPr>
          <a:xfrm>
            <a:off x="8229394" y="5038923"/>
            <a:ext cx="3397165"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Hold in escrow</a:t>
            </a:r>
            <a:endParaRPr lang="en-US" sz="1900" dirty="0"/>
          </a:p>
        </p:txBody>
      </p:sp>
      <p:sp>
        <p:nvSpPr>
          <p:cNvPr id="15" name="Shape 11"/>
          <p:cNvSpPr/>
          <p:nvPr/>
        </p:nvSpPr>
        <p:spPr>
          <a:xfrm>
            <a:off x="7670608" y="5686623"/>
            <a:ext cx="380990" cy="381000"/>
          </a:xfrm>
          <a:prstGeom prst="ellipse">
            <a:avLst/>
          </a:prstGeom>
          <a:solidFill>
            <a:srgbClr val="16171D"/>
          </a:solidFill>
          <a:ln w="6350">
            <a:solidFill>
              <a:srgbClr val="D5D3CA"/>
            </a:solidFill>
            <a:prstDash val="solid"/>
          </a:ln>
        </p:spPr>
      </p:sp>
      <p:sp>
        <p:nvSpPr>
          <p:cNvPr id="16" name="Text 12"/>
          <p:cNvSpPr/>
          <p:nvPr/>
        </p:nvSpPr>
        <p:spPr>
          <a:xfrm>
            <a:off x="7807725" y="5781873"/>
            <a:ext cx="1268778" cy="190500"/>
          </a:xfrm>
          <a:prstGeom prst="rect">
            <a:avLst/>
          </a:prstGeom>
          <a:noFill/>
          <a:ln/>
        </p:spPr>
        <p:txBody>
          <a:bodyPr wrap="none" lIns="0" tIns="0" rIns="0" bIns="0" rtlCol="0" anchor="t"/>
          <a:lstStyle/>
          <a:p>
            <a:pPr marL="0" indent="0" algn="l">
              <a:lnSpc>
                <a:spcPct val="83000"/>
              </a:lnSpc>
              <a:buNone/>
            </a:pPr>
            <a:r>
              <a:rPr lang="en-US" sz="1500" b="1" dirty="0">
                <a:solidFill>
                  <a:srgbClr val="FFFFFF"/>
                </a:solidFill>
                <a:latin typeface="Times New Roman" panose="02020603050405020304" pitchFamily="18" charset="0"/>
                <a:ea typeface="Hanken Grotesk Bold" pitchFamily="34" charset="-122"/>
                <a:cs typeface="Times New Roman" panose="02020603050405020304" pitchFamily="18" charset="0"/>
              </a:rPr>
              <a:t>3</a:t>
            </a:r>
            <a:endParaRPr lang="en-US" sz="1500" dirty="0"/>
          </a:p>
        </p:txBody>
      </p:sp>
      <p:sp>
        <p:nvSpPr>
          <p:cNvPr id="17" name="Text 13"/>
          <p:cNvSpPr/>
          <p:nvPr/>
        </p:nvSpPr>
        <p:spPr>
          <a:xfrm>
            <a:off x="8229394" y="5724723"/>
            <a:ext cx="3397165" cy="277416"/>
          </a:xfrm>
          <a:prstGeom prst="rect">
            <a:avLst/>
          </a:prstGeom>
          <a:noFill/>
          <a:ln/>
        </p:spPr>
        <p:txBody>
          <a:bodyPr wrap="none" lIns="0" tIns="0" rIns="0" bIns="0" rtlCol="0" anchor="t"/>
          <a:lstStyle/>
          <a:p>
            <a:pPr marL="0" indent="0" algn="l">
              <a:lnSpc>
                <a:spcPct val="96000"/>
              </a:lnSpc>
              <a:buNone/>
            </a:pPr>
            <a:r>
              <a:rPr lang="en-US" sz="1900" b="1" kern="100" spc="-9" dirty="0">
                <a:solidFill>
                  <a:srgbClr val="16171D"/>
                </a:solidFill>
                <a:latin typeface="Times New Roman" panose="02020603050405020304" pitchFamily="18" charset="0"/>
                <a:ea typeface="Hanken Grotesk Bold" pitchFamily="34" charset="-122"/>
                <a:cs typeface="Times New Roman" panose="02020603050405020304" pitchFamily="18" charset="0"/>
              </a:rPr>
              <a:t>Confirm the session</a:t>
            </a:r>
            <a:endParaRPr lang="en-US" sz="1900" dirty="0"/>
          </a:p>
        </p:txBody>
      </p:sp>
      <p:sp>
        <p:nvSpPr>
          <p:cNvPr id="18" name="Text 14"/>
          <p:cNvSpPr/>
          <p:nvPr/>
        </p:nvSpPr>
        <p:spPr>
          <a:xfrm>
            <a:off x="8229394" y="6167239"/>
            <a:ext cx="3962301" cy="284460"/>
          </a:xfrm>
          <a:prstGeom prst="rect">
            <a:avLst/>
          </a:prstGeom>
          <a:noFill/>
          <a:ln/>
        </p:spPr>
        <p:txBody>
          <a:bodyPr wrap="none" lIns="0" tIns="0" rIns="0" bIns="0" rtlCol="0" anchor="t"/>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Then release to the mentor</a:t>
            </a:r>
            <a:endParaRPr lang="en-US" sz="1600" dirty="0"/>
          </a:p>
        </p:txBody>
      </p:sp>
      <p:pic>
        <p:nvPicPr>
          <p:cNvPr id="20" name="Picture 19">
            <a:extLst>
              <a:ext uri="{FF2B5EF4-FFF2-40B4-BE49-F238E27FC236}">
                <a16:creationId xmlns:a16="http://schemas.microsoft.com/office/drawing/2014/main" id="{63549EF9-C601-84BD-48AC-23AD25779E5E}"/>
              </a:ext>
            </a:extLst>
          </p:cNvPr>
          <p:cNvPicPr>
            <a:picLocks noChangeAspect="1"/>
          </p:cNvPicPr>
          <p:nvPr/>
        </p:nvPicPr>
        <p:blipFill>
          <a:blip r:embed="rId4"/>
          <a:stretch>
            <a:fillRect/>
          </a:stretch>
        </p:blipFill>
        <p:spPr>
          <a:xfrm>
            <a:off x="425421" y="3581310"/>
            <a:ext cx="6422538" cy="2891648"/>
          </a:xfrm>
          <a:prstGeom prst="rect">
            <a:avLst/>
          </a:prstGeom>
        </p:spPr>
      </p:pic>
      <p:pic>
        <p:nvPicPr>
          <p:cNvPr id="22" name="Picture 21">
            <a:extLst>
              <a:ext uri="{FF2B5EF4-FFF2-40B4-BE49-F238E27FC236}">
                <a16:creationId xmlns:a16="http://schemas.microsoft.com/office/drawing/2014/main" id="{57299065-B33D-295C-0472-E015F4A55ECF}"/>
              </a:ext>
            </a:extLst>
          </p:cNvPr>
          <p:cNvPicPr>
            <a:picLocks noChangeAspect="1"/>
          </p:cNvPicPr>
          <p:nvPr/>
        </p:nvPicPr>
        <p:blipFill>
          <a:blip r:embed="rId5"/>
          <a:stretch>
            <a:fillRect/>
          </a:stretch>
        </p:blipFill>
        <p:spPr>
          <a:xfrm>
            <a:off x="404889" y="428692"/>
            <a:ext cx="6422538" cy="2871567"/>
          </a:xfrm>
          <a:prstGeom prst="rect">
            <a:avLst/>
          </a:prstGeom>
        </p:spPr>
      </p:pic>
      <p:sp>
        <p:nvSpPr>
          <p:cNvPr id="23" name="Rectangle 22">
            <a:extLst>
              <a:ext uri="{FF2B5EF4-FFF2-40B4-BE49-F238E27FC236}">
                <a16:creationId xmlns:a16="http://schemas.microsoft.com/office/drawing/2014/main" id="{13501641-A9A5-194D-F44A-C7852502DF19}"/>
              </a:ext>
            </a:extLst>
          </p:cNvPr>
          <p:cNvSpPr/>
          <p:nvPr/>
        </p:nvSpPr>
        <p:spPr>
          <a:xfrm>
            <a:off x="11055420" y="6522839"/>
            <a:ext cx="1114794" cy="298847"/>
          </a:xfrm>
          <a:prstGeom prst="rect">
            <a:avLst/>
          </a:prstGeom>
          <a:solidFill>
            <a:srgbClr val="FBFAF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Shape 0"/>
          <p:cNvSpPr/>
          <p:nvPr/>
        </p:nvSpPr>
        <p:spPr>
          <a:xfrm>
            <a:off x="0" y="0"/>
            <a:ext cx="12191695" cy="1742281"/>
          </a:xfrm>
          <a:prstGeom prst="rect">
            <a:avLst/>
          </a:prstGeom>
          <a:solidFill>
            <a:srgbClr val="FF8424"/>
          </a:solidFill>
          <a:ln/>
        </p:spPr>
      </p:sp>
      <p:sp>
        <p:nvSpPr>
          <p:cNvPr id="4" name="Text 1"/>
          <p:cNvSpPr/>
          <p:nvPr/>
        </p:nvSpPr>
        <p:spPr>
          <a:xfrm>
            <a:off x="425778" y="529432"/>
            <a:ext cx="11340138" cy="1158081"/>
          </a:xfrm>
          <a:prstGeom prst="rect">
            <a:avLst/>
          </a:prstGeom>
          <a:noFill/>
          <a:ln/>
        </p:spPr>
        <p:txBody>
          <a:bodyPr wrap="square" lIns="0" tIns="0" rIns="0" bIns="0" rtlCol="0" anchor="t">
            <a:normAutofit/>
          </a:bodyPr>
          <a:lstStyle/>
          <a:p>
            <a:pPr marL="0" indent="0" algn="l">
              <a:lnSpc>
                <a:spcPct val="79000"/>
              </a:lnSpc>
              <a:buNone/>
            </a:pPr>
            <a:r>
              <a:rPr lang="en-US" sz="3600" kern="100" spc="24" dirty="0">
                <a:solidFill>
                  <a:srgbClr val="000000"/>
                </a:solidFill>
                <a:latin typeface="Times New Roman" panose="02020603050405020304" pitchFamily="18" charset="0"/>
                <a:ea typeface="Big Shoulders ExtraBold" pitchFamily="34" charset="-122"/>
                <a:cs typeface="Times New Roman" panose="02020603050405020304" pitchFamily="18" charset="0"/>
              </a:rPr>
              <a:t>CAREER PATH TURNS A PROFILE INTO A ROADMAP</a:t>
            </a:r>
            <a:endParaRPr lang="en-US" sz="3600" dirty="0"/>
          </a:p>
        </p:txBody>
      </p:sp>
      <p:sp>
        <p:nvSpPr>
          <p:cNvPr id="5" name="Shape 2"/>
          <p:cNvSpPr/>
          <p:nvPr/>
        </p:nvSpPr>
        <p:spPr>
          <a:xfrm>
            <a:off x="609585" y="3079552"/>
            <a:ext cx="5333867" cy="2390378"/>
          </a:xfrm>
          <a:prstGeom prst="rect">
            <a:avLst/>
          </a:prstGeom>
          <a:solidFill>
            <a:srgbClr val="16171D"/>
          </a:solidFill>
          <a:ln/>
        </p:spPr>
      </p:sp>
      <p:sp>
        <p:nvSpPr>
          <p:cNvPr id="7" name="Text 3"/>
          <p:cNvSpPr/>
          <p:nvPr/>
        </p:nvSpPr>
        <p:spPr>
          <a:xfrm>
            <a:off x="787380" y="5061049"/>
            <a:ext cx="5708507" cy="231080"/>
          </a:xfrm>
          <a:prstGeom prst="rect">
            <a:avLst/>
          </a:prstGeom>
          <a:noFill/>
          <a:ln/>
        </p:spPr>
        <p:txBody>
          <a:bodyPr wrap="none" lIns="0" tIns="0" rIns="0" bIns="0" rtlCol="0" anchor="t"/>
          <a:lstStyle/>
          <a:p>
            <a:pPr marL="0" indent="0" algn="l">
              <a:lnSpc>
                <a:spcPct val="108000"/>
              </a:lnSpc>
              <a:buNone/>
            </a:pPr>
            <a:r>
              <a:rPr lang="en-US" sz="1400" kern="100" spc="7" dirty="0">
                <a:solidFill>
                  <a:srgbClr val="FFFFFF"/>
                </a:solidFill>
                <a:latin typeface="Times New Roman" panose="02020603050405020304" pitchFamily="18" charset="0"/>
                <a:ea typeface="Hanken Grotesk" pitchFamily="34" charset="-122"/>
                <a:cs typeface="Times New Roman" panose="02020603050405020304" pitchFamily="18" charset="0"/>
              </a:rPr>
              <a:t>Three-step profile · Software Engineer · 77%</a:t>
            </a:r>
            <a:endParaRPr lang="en-US" sz="1400" dirty="0"/>
          </a:p>
        </p:txBody>
      </p:sp>
      <p:sp>
        <p:nvSpPr>
          <p:cNvPr id="8" name="Shape 4"/>
          <p:cNvSpPr/>
          <p:nvPr/>
        </p:nvSpPr>
        <p:spPr>
          <a:xfrm>
            <a:off x="6248244" y="3079552"/>
            <a:ext cx="5333867" cy="2390378"/>
          </a:xfrm>
          <a:prstGeom prst="rect">
            <a:avLst/>
          </a:prstGeom>
          <a:solidFill>
            <a:srgbClr val="16171D"/>
          </a:solidFill>
          <a:ln/>
        </p:spPr>
      </p:sp>
      <p:sp>
        <p:nvSpPr>
          <p:cNvPr id="10" name="Text 5"/>
          <p:cNvSpPr/>
          <p:nvPr/>
        </p:nvSpPr>
        <p:spPr>
          <a:xfrm>
            <a:off x="6426039" y="5059164"/>
            <a:ext cx="5708507" cy="231080"/>
          </a:xfrm>
          <a:prstGeom prst="rect">
            <a:avLst/>
          </a:prstGeom>
          <a:noFill/>
          <a:ln/>
        </p:spPr>
        <p:txBody>
          <a:bodyPr wrap="none" lIns="0" tIns="0" rIns="0" bIns="0" rtlCol="0" anchor="t"/>
          <a:lstStyle/>
          <a:p>
            <a:pPr marL="0" indent="0" algn="l">
              <a:lnSpc>
                <a:spcPct val="108000"/>
              </a:lnSpc>
              <a:buNone/>
            </a:pPr>
            <a:r>
              <a:rPr lang="en-US" sz="1400" kern="100" spc="7" dirty="0">
                <a:solidFill>
                  <a:srgbClr val="FFFFFF"/>
                </a:solidFill>
                <a:latin typeface="Times New Roman" panose="02020603050405020304" pitchFamily="18" charset="0"/>
                <a:ea typeface="Hanken Grotesk" pitchFamily="34" charset="-122"/>
                <a:cs typeface="Times New Roman" panose="02020603050405020304" pitchFamily="18" charset="0"/>
              </a:rPr>
              <a:t>Six-step learning roadmap · tracked progress</a:t>
            </a:r>
            <a:endParaRPr lang="en-US" sz="1400" dirty="0"/>
          </a:p>
        </p:txBody>
      </p:sp>
      <p:pic>
        <p:nvPicPr>
          <p:cNvPr id="12" name="Picture 11">
            <a:extLst>
              <a:ext uri="{FF2B5EF4-FFF2-40B4-BE49-F238E27FC236}">
                <a16:creationId xmlns:a16="http://schemas.microsoft.com/office/drawing/2014/main" id="{B52EBB42-9440-E9DB-47C3-0738AEF46EFF}"/>
              </a:ext>
            </a:extLst>
          </p:cNvPr>
          <p:cNvPicPr>
            <a:picLocks noChangeAspect="1"/>
          </p:cNvPicPr>
          <p:nvPr/>
        </p:nvPicPr>
        <p:blipFill>
          <a:blip r:embed="rId4"/>
          <a:srcRect l="18108" t="7798" r="8834" b="24798"/>
          <a:stretch/>
        </p:blipFill>
        <p:spPr>
          <a:xfrm>
            <a:off x="609585" y="2793008"/>
            <a:ext cx="5333866" cy="2210491"/>
          </a:xfrm>
          <a:prstGeom prst="rect">
            <a:avLst/>
          </a:prstGeom>
        </p:spPr>
      </p:pic>
      <p:pic>
        <p:nvPicPr>
          <p:cNvPr id="14" name="Picture 13">
            <a:extLst>
              <a:ext uri="{FF2B5EF4-FFF2-40B4-BE49-F238E27FC236}">
                <a16:creationId xmlns:a16="http://schemas.microsoft.com/office/drawing/2014/main" id="{BD646784-8CFA-79C4-7DD9-54C4208F9A58}"/>
              </a:ext>
            </a:extLst>
          </p:cNvPr>
          <p:cNvPicPr>
            <a:picLocks noChangeAspect="1"/>
          </p:cNvPicPr>
          <p:nvPr/>
        </p:nvPicPr>
        <p:blipFill>
          <a:blip r:embed="rId5"/>
          <a:srcRect l="22658" t="7158" r="11277"/>
          <a:stretch/>
        </p:blipFill>
        <p:spPr>
          <a:xfrm>
            <a:off x="6248243" y="1908286"/>
            <a:ext cx="5333867" cy="3076713"/>
          </a:xfrm>
          <a:prstGeom prst="rect">
            <a:avLst/>
          </a:prstGeom>
        </p:spPr>
      </p:pic>
      <p:sp>
        <p:nvSpPr>
          <p:cNvPr id="15" name="Rectangle 14">
            <a:extLst>
              <a:ext uri="{FF2B5EF4-FFF2-40B4-BE49-F238E27FC236}">
                <a16:creationId xmlns:a16="http://schemas.microsoft.com/office/drawing/2014/main" id="{74BDAE67-3A9C-E902-9A93-0847585475C2}"/>
              </a:ext>
            </a:extLst>
          </p:cNvPr>
          <p:cNvSpPr/>
          <p:nvPr/>
        </p:nvSpPr>
        <p:spPr>
          <a:xfrm>
            <a:off x="11055420" y="6522839"/>
            <a:ext cx="1114794" cy="298847"/>
          </a:xfrm>
          <a:prstGeom prst="rect">
            <a:avLst/>
          </a:prstGeom>
          <a:solidFill>
            <a:srgbClr val="FBFAF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92678" y="582246"/>
            <a:ext cx="11332284" cy="579041"/>
          </a:xfrm>
          <a:prstGeom prst="rect">
            <a:avLst/>
          </a:prstGeom>
          <a:noFill/>
          <a:ln/>
        </p:spPr>
        <p:txBody>
          <a:bodyPr wrap="none" lIns="0" tIns="0" rIns="0" bIns="0" rtlCol="0" anchor="t"/>
          <a:lstStyle/>
          <a:p>
            <a:pPr marL="0" indent="0" algn="l">
              <a:lnSpc>
                <a:spcPct val="79000"/>
              </a:lnSpc>
              <a:buNone/>
            </a:pPr>
            <a:r>
              <a:rPr lang="en-US" sz="48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MENTORS EARN, REVIEWS BUILD TRUST</a:t>
            </a:r>
            <a:endParaRPr lang="en-US" sz="4800" dirty="0"/>
          </a:p>
        </p:txBody>
      </p:sp>
      <p:sp>
        <p:nvSpPr>
          <p:cNvPr id="3" name="Text 1"/>
          <p:cNvSpPr/>
          <p:nvPr/>
        </p:nvSpPr>
        <p:spPr>
          <a:xfrm>
            <a:off x="609585" y="2019300"/>
            <a:ext cx="5073523"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Manage earnings</a:t>
            </a:r>
            <a:endParaRPr lang="en-US" sz="2200" dirty="0"/>
          </a:p>
        </p:txBody>
      </p:sp>
      <p:sp>
        <p:nvSpPr>
          <p:cNvPr id="4" name="Text 2"/>
          <p:cNvSpPr/>
          <p:nvPr/>
        </p:nvSpPr>
        <p:spPr>
          <a:xfrm>
            <a:off x="609585" y="2505670"/>
            <a:ext cx="6038699" cy="284460"/>
          </a:xfrm>
          <a:prstGeom prst="rect">
            <a:avLst/>
          </a:prstGeom>
          <a:noFill/>
          <a:ln/>
        </p:spPr>
        <p:txBody>
          <a:bodyPr wrap="none" lIns="0" tIns="0" rIns="0" bIns="0" rtlCol="0" anchor="t"/>
          <a:lstStyle/>
          <a:p>
            <a:pPr marL="0" indent="0" algn="l">
              <a:lnSpc>
                <a:spcPct val="117000"/>
              </a:lnSpc>
              <a:buNone/>
            </a:pPr>
            <a:r>
              <a:rPr lang="en-US" sz="1600" dirty="0">
                <a:solidFill>
                  <a:srgbClr val="16171D"/>
                </a:solidFill>
                <a:latin typeface="Times New Roman" panose="02020603050405020304" pitchFamily="18" charset="0"/>
                <a:ea typeface="Hanken Grotesk" pitchFamily="34" charset="-122"/>
                <a:cs typeface="Times New Roman" panose="02020603050405020304" pitchFamily="18" charset="0"/>
              </a:rPr>
              <a:t>Withdrawals through bKash</a:t>
            </a:r>
            <a:endParaRPr lang="en-US" sz="1600" dirty="0"/>
          </a:p>
        </p:txBody>
      </p:sp>
      <p:sp>
        <p:nvSpPr>
          <p:cNvPr id="5" name="Shape 3"/>
          <p:cNvSpPr/>
          <p:nvPr/>
        </p:nvSpPr>
        <p:spPr>
          <a:xfrm>
            <a:off x="609585" y="2996505"/>
            <a:ext cx="5130672" cy="2351385"/>
          </a:xfrm>
          <a:prstGeom prst="rect">
            <a:avLst/>
          </a:prstGeom>
          <a:solidFill>
            <a:srgbClr val="16171D"/>
          </a:solidFill>
          <a:ln/>
        </p:spPr>
      </p:sp>
      <p:pic>
        <p:nvPicPr>
          <p:cNvPr id="6" name="Image 0" descr="preencoded.png"/>
          <p:cNvPicPr>
            <a:picLocks noChangeAspect="1"/>
          </p:cNvPicPr>
          <p:nvPr/>
        </p:nvPicPr>
        <p:blipFill>
          <a:blip r:embed="rId3"/>
          <a:stretch>
            <a:fillRect/>
          </a:stretch>
        </p:blipFill>
        <p:spPr>
          <a:xfrm>
            <a:off x="761981" y="3148905"/>
            <a:ext cx="4571886" cy="2046387"/>
          </a:xfrm>
          <a:prstGeom prst="rect">
            <a:avLst/>
          </a:prstGeom>
        </p:spPr>
      </p:pic>
      <p:sp>
        <p:nvSpPr>
          <p:cNvPr id="7" name="Shape 4"/>
          <p:cNvSpPr/>
          <p:nvPr/>
        </p:nvSpPr>
        <p:spPr>
          <a:xfrm>
            <a:off x="6095848" y="1714500"/>
            <a:ext cx="6095848" cy="5143599"/>
          </a:xfrm>
          <a:prstGeom prst="rect">
            <a:avLst/>
          </a:prstGeom>
          <a:solidFill>
            <a:srgbClr val="FF8424"/>
          </a:solidFill>
          <a:ln/>
        </p:spPr>
      </p:sp>
      <p:sp>
        <p:nvSpPr>
          <p:cNvPr id="8" name="Text 5"/>
          <p:cNvSpPr/>
          <p:nvPr/>
        </p:nvSpPr>
        <p:spPr>
          <a:xfrm>
            <a:off x="6451439" y="2019300"/>
            <a:ext cx="5073523"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See student feedback</a:t>
            </a:r>
            <a:endParaRPr lang="en-US" sz="2200" dirty="0"/>
          </a:p>
        </p:txBody>
      </p:sp>
      <p:sp>
        <p:nvSpPr>
          <p:cNvPr id="9" name="Text 6"/>
          <p:cNvSpPr/>
          <p:nvPr/>
        </p:nvSpPr>
        <p:spPr>
          <a:xfrm>
            <a:off x="6451439" y="2505670"/>
            <a:ext cx="5740256"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Times New Roman" panose="02020603050405020304" pitchFamily="18" charset="0"/>
                <a:ea typeface="Hanken Grotesk" pitchFamily="34" charset="-122"/>
                <a:cs typeface="Times New Roman" panose="02020603050405020304" pitchFamily="18" charset="0"/>
              </a:rPr>
              <a:t>4.7 average across three reviews</a:t>
            </a:r>
            <a:endParaRPr lang="en-US" sz="1600" dirty="0"/>
          </a:p>
        </p:txBody>
      </p:sp>
      <p:sp>
        <p:nvSpPr>
          <p:cNvPr id="10" name="Shape 7"/>
          <p:cNvSpPr/>
          <p:nvPr/>
        </p:nvSpPr>
        <p:spPr>
          <a:xfrm>
            <a:off x="6451439" y="2996505"/>
            <a:ext cx="5130672" cy="2346523"/>
          </a:xfrm>
          <a:prstGeom prst="rect">
            <a:avLst/>
          </a:prstGeom>
          <a:solidFill>
            <a:srgbClr val="16171D"/>
          </a:solidFill>
          <a:ln/>
        </p:spPr>
      </p:sp>
      <p:pic>
        <p:nvPicPr>
          <p:cNvPr id="11" name="Image 1" descr="preencoded.png"/>
          <p:cNvPicPr>
            <a:picLocks noChangeAspect="1"/>
          </p:cNvPicPr>
          <p:nvPr/>
        </p:nvPicPr>
        <p:blipFill>
          <a:blip r:embed="rId4"/>
          <a:stretch>
            <a:fillRect/>
          </a:stretch>
        </p:blipFill>
        <p:spPr>
          <a:xfrm>
            <a:off x="6603835" y="3148905"/>
            <a:ext cx="4571886" cy="2041723"/>
          </a:xfrm>
          <a:prstGeom prst="rect">
            <a:avLst/>
          </a:prstGeom>
        </p:spPr>
      </p:pic>
      <p:sp>
        <p:nvSpPr>
          <p:cNvPr id="12" name="Shape 8"/>
          <p:cNvSpPr/>
          <p:nvPr/>
        </p:nvSpPr>
        <p:spPr>
          <a:xfrm>
            <a:off x="6089498" y="1714500"/>
            <a:ext cx="12700" cy="5143599"/>
          </a:xfrm>
          <a:prstGeom prst="rect">
            <a:avLst/>
          </a:prstGeom>
          <a:solidFill>
            <a:srgbClr val="16171D"/>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Text 0"/>
          <p:cNvSpPr/>
          <p:nvPr/>
        </p:nvSpPr>
        <p:spPr>
          <a:xfrm>
            <a:off x="609585" y="381000"/>
            <a:ext cx="10915377" cy="579041"/>
          </a:xfrm>
          <a:prstGeom prst="rect">
            <a:avLst/>
          </a:prstGeom>
          <a:noFill/>
          <a:ln/>
        </p:spPr>
        <p:txBody>
          <a:bodyPr wrap="none" lIns="0" tIns="0" rIns="0" bIns="0" rtlCol="0" anchor="t"/>
          <a:lstStyle/>
          <a:p>
            <a:pPr marL="0" indent="0" algn="l">
              <a:lnSpc>
                <a:spcPct val="79000"/>
              </a:lnSpc>
              <a:buNone/>
            </a:pPr>
            <a:r>
              <a:rPr lang="en-US" sz="48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ADMINS SEE THE WHOLE PLATFORM</a:t>
            </a:r>
            <a:endParaRPr lang="en-US" sz="4800" dirty="0"/>
          </a:p>
        </p:txBody>
      </p:sp>
      <p:sp>
        <p:nvSpPr>
          <p:cNvPr id="4" name="Shape 1"/>
          <p:cNvSpPr/>
          <p:nvPr/>
        </p:nvSpPr>
        <p:spPr>
          <a:xfrm>
            <a:off x="0" y="1485900"/>
            <a:ext cx="12191695" cy="1371600"/>
          </a:xfrm>
          <a:prstGeom prst="rect">
            <a:avLst/>
          </a:prstGeom>
          <a:solidFill>
            <a:srgbClr val="FF8424"/>
          </a:solidFill>
          <a:ln/>
        </p:spPr>
      </p:sp>
      <p:sp>
        <p:nvSpPr>
          <p:cNvPr id="5" name="Text 2"/>
          <p:cNvSpPr/>
          <p:nvPr/>
        </p:nvSpPr>
        <p:spPr>
          <a:xfrm>
            <a:off x="304792" y="1638300"/>
            <a:ext cx="2381190"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4,821 users</a:t>
            </a:r>
            <a:endParaRPr lang="en-US" sz="2200" dirty="0"/>
          </a:p>
        </p:txBody>
      </p:sp>
      <p:sp>
        <p:nvSpPr>
          <p:cNvPr id="6" name="Text 3"/>
          <p:cNvSpPr/>
          <p:nvPr/>
        </p:nvSpPr>
        <p:spPr>
          <a:xfrm>
            <a:off x="3352716" y="1638300"/>
            <a:ext cx="2381190"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134 services</a:t>
            </a:r>
            <a:endParaRPr lang="en-US" sz="2200" dirty="0"/>
          </a:p>
        </p:txBody>
      </p:sp>
      <p:sp>
        <p:nvSpPr>
          <p:cNvPr id="7" name="Text 4"/>
          <p:cNvSpPr/>
          <p:nvPr/>
        </p:nvSpPr>
        <p:spPr>
          <a:xfrm>
            <a:off x="6400640" y="1638300"/>
            <a:ext cx="2381190"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892 bookings</a:t>
            </a:r>
            <a:endParaRPr lang="en-US" sz="2200" dirty="0"/>
          </a:p>
        </p:txBody>
      </p:sp>
      <p:sp>
        <p:nvSpPr>
          <p:cNvPr id="8" name="Text 5"/>
          <p:cNvSpPr/>
          <p:nvPr/>
        </p:nvSpPr>
        <p:spPr>
          <a:xfrm>
            <a:off x="9448564" y="1638300"/>
            <a:ext cx="2381190"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4,46,000 taka</a:t>
            </a:r>
            <a:endParaRPr lang="en-US" sz="2200" dirty="0"/>
          </a:p>
        </p:txBody>
      </p:sp>
      <p:sp>
        <p:nvSpPr>
          <p:cNvPr id="9" name="Text 6"/>
          <p:cNvSpPr/>
          <p:nvPr/>
        </p:nvSpPr>
        <p:spPr>
          <a:xfrm>
            <a:off x="9448564" y="2124670"/>
            <a:ext cx="2743131" cy="231080"/>
          </a:xfrm>
          <a:prstGeom prst="rect">
            <a:avLst/>
          </a:prstGeom>
          <a:noFill/>
          <a:ln/>
        </p:spPr>
        <p:txBody>
          <a:bodyPr wrap="none" lIns="0" tIns="0" rIns="0" bIns="0" rtlCol="0" anchor="t"/>
          <a:lstStyle/>
          <a:p>
            <a:pPr marL="0" indent="0" algn="l">
              <a:lnSpc>
                <a:spcPct val="108000"/>
              </a:lnSpc>
              <a:buNone/>
            </a:pPr>
            <a:r>
              <a:rPr lang="en-US" sz="1400" kern="100" spc="7" dirty="0">
                <a:solidFill>
                  <a:srgbClr val="000000"/>
                </a:solidFill>
                <a:latin typeface="Times New Roman" panose="02020603050405020304" pitchFamily="18" charset="0"/>
                <a:ea typeface="Hanken Grotesk" pitchFamily="34" charset="-122"/>
                <a:cs typeface="Times New Roman" panose="02020603050405020304" pitchFamily="18" charset="0"/>
              </a:rPr>
              <a:t>Revenue · six months</a:t>
            </a:r>
            <a:endParaRPr lang="en-US" sz="1400" dirty="0"/>
          </a:p>
        </p:txBody>
      </p:sp>
      <p:sp>
        <p:nvSpPr>
          <p:cNvPr id="10" name="Shape 7"/>
          <p:cNvSpPr/>
          <p:nvPr/>
        </p:nvSpPr>
        <p:spPr>
          <a:xfrm>
            <a:off x="3041574" y="1485900"/>
            <a:ext cx="12700" cy="1371600"/>
          </a:xfrm>
          <a:prstGeom prst="rect">
            <a:avLst/>
          </a:prstGeom>
          <a:solidFill>
            <a:srgbClr val="16171D"/>
          </a:solidFill>
          <a:ln/>
        </p:spPr>
      </p:sp>
      <p:sp>
        <p:nvSpPr>
          <p:cNvPr id="11" name="Shape 8"/>
          <p:cNvSpPr/>
          <p:nvPr/>
        </p:nvSpPr>
        <p:spPr>
          <a:xfrm>
            <a:off x="6089498" y="1485900"/>
            <a:ext cx="12700" cy="1371600"/>
          </a:xfrm>
          <a:prstGeom prst="rect">
            <a:avLst/>
          </a:prstGeom>
          <a:solidFill>
            <a:srgbClr val="16171D"/>
          </a:solidFill>
          <a:ln/>
        </p:spPr>
      </p:sp>
      <p:sp>
        <p:nvSpPr>
          <p:cNvPr id="12" name="Shape 9"/>
          <p:cNvSpPr/>
          <p:nvPr/>
        </p:nvSpPr>
        <p:spPr>
          <a:xfrm>
            <a:off x="9137421" y="1485900"/>
            <a:ext cx="12700" cy="1371600"/>
          </a:xfrm>
          <a:prstGeom prst="rect">
            <a:avLst/>
          </a:prstGeom>
          <a:solidFill>
            <a:srgbClr val="16171D"/>
          </a:solidFill>
          <a:ln/>
        </p:spPr>
      </p:sp>
      <p:sp>
        <p:nvSpPr>
          <p:cNvPr id="13" name="Shape 10"/>
          <p:cNvSpPr/>
          <p:nvPr/>
        </p:nvSpPr>
        <p:spPr>
          <a:xfrm>
            <a:off x="609585" y="3136999"/>
            <a:ext cx="5333867" cy="3365599"/>
          </a:xfrm>
          <a:prstGeom prst="rect">
            <a:avLst/>
          </a:prstGeom>
          <a:solidFill>
            <a:srgbClr val="16171D"/>
          </a:solidFill>
          <a:ln/>
        </p:spPr>
      </p:sp>
      <p:pic>
        <p:nvPicPr>
          <p:cNvPr id="14" name="Image 1" descr="preencoded.png"/>
          <p:cNvPicPr>
            <a:picLocks noChangeAspect="1"/>
          </p:cNvPicPr>
          <p:nvPr/>
        </p:nvPicPr>
        <p:blipFill>
          <a:blip r:embed="rId4"/>
          <a:stretch>
            <a:fillRect/>
          </a:stretch>
        </p:blipFill>
        <p:spPr>
          <a:xfrm>
            <a:off x="787380" y="3314799"/>
            <a:ext cx="4952876" cy="2219623"/>
          </a:xfrm>
          <a:prstGeom prst="rect">
            <a:avLst/>
          </a:prstGeom>
        </p:spPr>
      </p:pic>
      <p:sp>
        <p:nvSpPr>
          <p:cNvPr id="15" name="Text 11"/>
          <p:cNvSpPr/>
          <p:nvPr/>
        </p:nvSpPr>
        <p:spPr>
          <a:xfrm>
            <a:off x="787380" y="5626398"/>
            <a:ext cx="5708507" cy="231080"/>
          </a:xfrm>
          <a:prstGeom prst="rect">
            <a:avLst/>
          </a:prstGeom>
          <a:noFill/>
          <a:ln/>
        </p:spPr>
        <p:txBody>
          <a:bodyPr wrap="none" lIns="0" tIns="0" rIns="0" bIns="0" rtlCol="0" anchor="t"/>
          <a:lstStyle/>
          <a:p>
            <a:pPr marL="0" indent="0" algn="l">
              <a:lnSpc>
                <a:spcPct val="108000"/>
              </a:lnSpc>
              <a:buNone/>
            </a:pPr>
            <a:r>
              <a:rPr lang="en-US" sz="1400" kern="100" spc="7" dirty="0">
                <a:solidFill>
                  <a:srgbClr val="FFFFFF"/>
                </a:solidFill>
                <a:latin typeface="Times New Roman" panose="02020603050405020304" pitchFamily="18" charset="0"/>
                <a:ea typeface="Hanken Grotesk" pitchFamily="34" charset="-122"/>
                <a:cs typeface="Times New Roman" panose="02020603050405020304" pitchFamily="18" charset="0"/>
              </a:rPr>
              <a:t>Platform dashboard</a:t>
            </a:r>
            <a:endParaRPr lang="en-US" sz="1400" dirty="0"/>
          </a:p>
        </p:txBody>
      </p:sp>
      <p:sp>
        <p:nvSpPr>
          <p:cNvPr id="16" name="Shape 12"/>
          <p:cNvSpPr/>
          <p:nvPr/>
        </p:nvSpPr>
        <p:spPr>
          <a:xfrm>
            <a:off x="6248244" y="3136999"/>
            <a:ext cx="5333867" cy="3365599"/>
          </a:xfrm>
          <a:prstGeom prst="rect">
            <a:avLst/>
          </a:prstGeom>
          <a:solidFill>
            <a:srgbClr val="16171D"/>
          </a:solidFill>
          <a:ln/>
        </p:spPr>
      </p:sp>
      <p:pic>
        <p:nvPicPr>
          <p:cNvPr id="17" name="Image 2" descr="preencoded.png"/>
          <p:cNvPicPr>
            <a:picLocks noChangeAspect="1"/>
          </p:cNvPicPr>
          <p:nvPr/>
        </p:nvPicPr>
        <p:blipFill>
          <a:blip r:embed="rId5"/>
          <a:stretch>
            <a:fillRect/>
          </a:stretch>
        </p:blipFill>
        <p:spPr>
          <a:xfrm>
            <a:off x="6426039" y="3314799"/>
            <a:ext cx="4952876" cy="2214463"/>
          </a:xfrm>
          <a:prstGeom prst="rect">
            <a:avLst/>
          </a:prstGeom>
        </p:spPr>
      </p:pic>
      <p:sp>
        <p:nvSpPr>
          <p:cNvPr id="18" name="Text 13"/>
          <p:cNvSpPr/>
          <p:nvPr/>
        </p:nvSpPr>
        <p:spPr>
          <a:xfrm>
            <a:off x="6426039" y="5621338"/>
            <a:ext cx="5708507" cy="231080"/>
          </a:xfrm>
          <a:prstGeom prst="rect">
            <a:avLst/>
          </a:prstGeom>
          <a:noFill/>
          <a:ln/>
        </p:spPr>
        <p:txBody>
          <a:bodyPr wrap="none" lIns="0" tIns="0" rIns="0" bIns="0" rtlCol="0" anchor="t"/>
          <a:lstStyle/>
          <a:p>
            <a:pPr marL="0" indent="0" algn="l">
              <a:lnSpc>
                <a:spcPct val="108000"/>
              </a:lnSpc>
              <a:buNone/>
            </a:pPr>
            <a:r>
              <a:rPr lang="en-US" sz="1400" kern="100" spc="7" dirty="0">
                <a:solidFill>
                  <a:srgbClr val="FFFFFF"/>
                </a:solidFill>
                <a:latin typeface="Times New Roman" panose="02020603050405020304" pitchFamily="18" charset="0"/>
                <a:ea typeface="Hanken Grotesk" pitchFamily="34" charset="-122"/>
                <a:cs typeface="Times New Roman" panose="02020603050405020304" pitchFamily="18" charset="0"/>
              </a:rPr>
              <a:t>Six-month revenue report</a:t>
            </a:r>
            <a:endParaRPr lang="en-US" sz="1400" dirty="0"/>
          </a:p>
        </p:txBody>
      </p:sp>
      <p:sp>
        <p:nvSpPr>
          <p:cNvPr id="19" name="Rectangle 18">
            <a:extLst>
              <a:ext uri="{FF2B5EF4-FFF2-40B4-BE49-F238E27FC236}">
                <a16:creationId xmlns:a16="http://schemas.microsoft.com/office/drawing/2014/main" id="{6427E90C-1553-A73F-E898-48E42668FB54}"/>
              </a:ext>
            </a:extLst>
          </p:cNvPr>
          <p:cNvSpPr/>
          <p:nvPr/>
        </p:nvSpPr>
        <p:spPr>
          <a:xfrm>
            <a:off x="11055420" y="6522839"/>
            <a:ext cx="1114794" cy="298847"/>
          </a:xfrm>
          <a:prstGeom prst="rect">
            <a:avLst/>
          </a:prstGeom>
          <a:solidFill>
            <a:srgbClr val="FBFAF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Text 0"/>
          <p:cNvSpPr/>
          <p:nvPr/>
        </p:nvSpPr>
        <p:spPr>
          <a:xfrm>
            <a:off x="195370" y="534393"/>
            <a:ext cx="11524962" cy="579041"/>
          </a:xfrm>
          <a:prstGeom prst="rect">
            <a:avLst/>
          </a:prstGeom>
          <a:noFill/>
          <a:ln/>
        </p:spPr>
        <p:txBody>
          <a:bodyPr wrap="none" lIns="0" tIns="0" rIns="0" bIns="0" rtlCol="0" anchor="t"/>
          <a:lstStyle/>
          <a:p>
            <a:pPr marL="0" indent="0" algn="l">
              <a:lnSpc>
                <a:spcPct val="79000"/>
              </a:lnSpc>
              <a:buNone/>
            </a:pPr>
            <a:r>
              <a:rPr lang="en-US" sz="40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BUILT ON A MODERN, LAYERED ARCHITECTURE</a:t>
            </a:r>
            <a:endParaRPr lang="en-US" sz="4000" dirty="0"/>
          </a:p>
        </p:txBody>
      </p:sp>
      <p:pic>
        <p:nvPicPr>
          <p:cNvPr id="4" name="Image 1" descr="preencoded.png"/>
          <p:cNvPicPr>
            <a:picLocks noChangeAspect="1"/>
          </p:cNvPicPr>
          <p:nvPr/>
        </p:nvPicPr>
        <p:blipFill>
          <a:blip r:embed="rId4"/>
          <a:stretch>
            <a:fillRect/>
          </a:stretch>
        </p:blipFill>
        <p:spPr>
          <a:xfrm>
            <a:off x="609585" y="1264841"/>
            <a:ext cx="10972526" cy="4114899"/>
          </a:xfrm>
          <a:prstGeom prst="rect">
            <a:avLst/>
          </a:prstGeom>
        </p:spPr>
      </p:pic>
      <p:sp>
        <p:nvSpPr>
          <p:cNvPr id="5" name="Text 1"/>
          <p:cNvSpPr/>
          <p:nvPr/>
        </p:nvSpPr>
        <p:spPr>
          <a:xfrm>
            <a:off x="609585" y="5586016"/>
            <a:ext cx="11582110"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16171D"/>
                </a:solidFill>
                <a:latin typeface="Times New Roman" panose="02020603050405020304" pitchFamily="18" charset="0"/>
                <a:ea typeface="Red Hat Mono" pitchFamily="34" charset="-122"/>
                <a:cs typeface="Times New Roman" panose="02020603050405020304" pitchFamily="18" charset="0"/>
              </a:rPr>
              <a:t>One platform · Four layers · Shared integrations</a:t>
            </a:r>
            <a:endParaRPr lang="en-US" sz="1300" dirty="0"/>
          </a:p>
        </p:txBody>
      </p:sp>
      <p:sp>
        <p:nvSpPr>
          <p:cNvPr id="6" name="Rectangle 5">
            <a:extLst>
              <a:ext uri="{FF2B5EF4-FFF2-40B4-BE49-F238E27FC236}">
                <a16:creationId xmlns:a16="http://schemas.microsoft.com/office/drawing/2014/main" id="{8EBECEF2-3FDF-F666-5372-221763EE7486}"/>
              </a:ext>
            </a:extLst>
          </p:cNvPr>
          <p:cNvSpPr/>
          <p:nvPr/>
        </p:nvSpPr>
        <p:spPr>
          <a:xfrm>
            <a:off x="11055420" y="6522839"/>
            <a:ext cx="1114794" cy="298847"/>
          </a:xfrm>
          <a:prstGeom prst="rect">
            <a:avLst/>
          </a:prstGeom>
          <a:solidFill>
            <a:srgbClr val="FBFAF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Text 0"/>
          <p:cNvSpPr/>
          <p:nvPr/>
        </p:nvSpPr>
        <p:spPr>
          <a:xfrm>
            <a:off x="609585" y="381000"/>
            <a:ext cx="11524962" cy="579041"/>
          </a:xfrm>
          <a:prstGeom prst="rect">
            <a:avLst/>
          </a:prstGeom>
          <a:noFill/>
          <a:ln/>
        </p:spPr>
        <p:txBody>
          <a:bodyPr wrap="none" lIns="0" tIns="0" rIns="0" bIns="0" rtlCol="0" anchor="t"/>
          <a:lstStyle/>
          <a:p>
            <a:pPr marL="0" indent="0" algn="l">
              <a:lnSpc>
                <a:spcPct val="79000"/>
              </a:lnSpc>
              <a:buNone/>
            </a:pPr>
            <a:r>
              <a:rPr lang="en-US" sz="48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MENTORS RUN THEIR OWN SERVICES</a:t>
            </a:r>
            <a:endParaRPr lang="en-US" sz="4800" dirty="0"/>
          </a:p>
        </p:txBody>
      </p:sp>
      <p:sp>
        <p:nvSpPr>
          <p:cNvPr id="4" name="Text 1"/>
          <p:cNvSpPr/>
          <p:nvPr/>
        </p:nvSpPr>
        <p:spPr>
          <a:xfrm>
            <a:off x="609585" y="2159000"/>
            <a:ext cx="3244769"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Booking requests</a:t>
            </a:r>
            <a:endParaRPr lang="en-US" sz="2200" dirty="0"/>
          </a:p>
        </p:txBody>
      </p:sp>
      <p:sp>
        <p:nvSpPr>
          <p:cNvPr id="5" name="Text 2"/>
          <p:cNvSpPr/>
          <p:nvPr/>
        </p:nvSpPr>
        <p:spPr>
          <a:xfrm>
            <a:off x="609585" y="2667000"/>
            <a:ext cx="3854354" cy="319980"/>
          </a:xfrm>
          <a:prstGeom prst="rect">
            <a:avLst/>
          </a:prstGeom>
          <a:noFill/>
          <a:ln/>
        </p:spPr>
        <p:txBody>
          <a:bodyPr wrap="none" lIns="0" tIns="0" rIns="0" bIns="0" rtlCol="0" anchor="t"/>
          <a:lstStyle/>
          <a:p>
            <a:pPr marL="0" indent="0" algn="l">
              <a:lnSpc>
                <a:spcPct val="117000"/>
              </a:lnSpc>
              <a:buNone/>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Pending requests: Accept or Reject</a:t>
            </a:r>
            <a:endParaRPr lang="en-US" sz="1800" dirty="0"/>
          </a:p>
        </p:txBody>
      </p:sp>
      <p:sp>
        <p:nvSpPr>
          <p:cNvPr id="6" name="Text 3"/>
          <p:cNvSpPr/>
          <p:nvPr/>
        </p:nvSpPr>
        <p:spPr>
          <a:xfrm>
            <a:off x="4470288" y="2159000"/>
            <a:ext cx="3244769"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Earnings summary</a:t>
            </a:r>
            <a:endParaRPr lang="en-US" sz="2200" dirty="0"/>
          </a:p>
        </p:txBody>
      </p:sp>
      <p:sp>
        <p:nvSpPr>
          <p:cNvPr id="7" name="Text 4"/>
          <p:cNvSpPr/>
          <p:nvPr/>
        </p:nvSpPr>
        <p:spPr>
          <a:xfrm>
            <a:off x="4470288" y="2667000"/>
            <a:ext cx="3854354" cy="319980"/>
          </a:xfrm>
          <a:prstGeom prst="rect">
            <a:avLst/>
          </a:prstGeom>
          <a:noFill/>
          <a:ln/>
        </p:spPr>
        <p:txBody>
          <a:bodyPr wrap="none" lIns="0" tIns="0" rIns="0" bIns="0" rtlCol="0" anchor="t"/>
          <a:lstStyle/>
          <a:p>
            <a:pPr marL="0" indent="0" algn="l">
              <a:lnSpc>
                <a:spcPct val="117000"/>
              </a:lnSpc>
              <a:buNone/>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12,400 taka this month</a:t>
            </a:r>
            <a:endParaRPr lang="en-US" sz="1800" dirty="0"/>
          </a:p>
        </p:txBody>
      </p:sp>
      <p:sp>
        <p:nvSpPr>
          <p:cNvPr id="8" name="Text 5"/>
          <p:cNvSpPr/>
          <p:nvPr/>
        </p:nvSpPr>
        <p:spPr>
          <a:xfrm>
            <a:off x="8330992" y="2159000"/>
            <a:ext cx="3244769"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New services</a:t>
            </a:r>
            <a:endParaRPr lang="en-US" sz="2200" dirty="0"/>
          </a:p>
        </p:txBody>
      </p:sp>
      <p:sp>
        <p:nvSpPr>
          <p:cNvPr id="9" name="Text 6"/>
          <p:cNvSpPr/>
          <p:nvPr/>
        </p:nvSpPr>
        <p:spPr>
          <a:xfrm>
            <a:off x="8330992" y="2667000"/>
            <a:ext cx="3854354" cy="319980"/>
          </a:xfrm>
          <a:prstGeom prst="rect">
            <a:avLst/>
          </a:prstGeom>
          <a:noFill/>
          <a:ln/>
        </p:spPr>
        <p:txBody>
          <a:bodyPr wrap="none" lIns="0" tIns="0" rIns="0" bIns="0" rtlCol="0" anchor="t"/>
          <a:lstStyle/>
          <a:p>
            <a:pPr marL="0" indent="0" algn="l">
              <a:lnSpc>
                <a:spcPct val="117000"/>
              </a:lnSpc>
              <a:buNone/>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Form submitted for admin approval</a:t>
            </a:r>
            <a:endParaRPr lang="en-US" sz="1800" dirty="0"/>
          </a:p>
        </p:txBody>
      </p:sp>
      <p:sp>
        <p:nvSpPr>
          <p:cNvPr id="10" name="Shape 7"/>
          <p:cNvSpPr/>
          <p:nvPr/>
        </p:nvSpPr>
        <p:spPr>
          <a:xfrm>
            <a:off x="4057548" y="1905000"/>
            <a:ext cx="12700" cy="2540000"/>
          </a:xfrm>
          <a:prstGeom prst="rect">
            <a:avLst/>
          </a:prstGeom>
          <a:solidFill>
            <a:srgbClr val="16171D"/>
          </a:solidFill>
          <a:ln/>
        </p:spPr>
      </p:sp>
      <p:sp>
        <p:nvSpPr>
          <p:cNvPr id="11" name="Shape 8"/>
          <p:cNvSpPr/>
          <p:nvPr/>
        </p:nvSpPr>
        <p:spPr>
          <a:xfrm>
            <a:off x="7918252" y="1905000"/>
            <a:ext cx="12700" cy="2540000"/>
          </a:xfrm>
          <a:prstGeom prst="rect">
            <a:avLst/>
          </a:prstGeom>
          <a:solidFill>
            <a:srgbClr val="16171D"/>
          </a:solidFill>
          <a:ln/>
        </p:spPr>
      </p:sp>
      <p:sp>
        <p:nvSpPr>
          <p:cNvPr id="12" name="Shape 9"/>
          <p:cNvSpPr/>
          <p:nvPr/>
        </p:nvSpPr>
        <p:spPr>
          <a:xfrm>
            <a:off x="0" y="5080000"/>
            <a:ext cx="12191695" cy="1778000"/>
          </a:xfrm>
          <a:prstGeom prst="rect">
            <a:avLst/>
          </a:prstGeom>
          <a:solidFill>
            <a:srgbClr val="FF8424"/>
          </a:solidFill>
          <a:ln/>
        </p:spPr>
      </p:sp>
      <p:sp>
        <p:nvSpPr>
          <p:cNvPr id="13" name="Text 10"/>
          <p:cNvSpPr/>
          <p:nvPr/>
        </p:nvSpPr>
        <p:spPr>
          <a:xfrm>
            <a:off x="609585" y="5588000"/>
            <a:ext cx="10915377" cy="525760"/>
          </a:xfrm>
          <a:prstGeom prst="rect">
            <a:avLst/>
          </a:prstGeom>
          <a:noFill/>
          <a:ln/>
        </p:spPr>
        <p:txBody>
          <a:bodyPr wrap="none" lIns="0" tIns="0" rIns="0" bIns="0" rtlCol="0" anchor="t"/>
          <a:lstStyle/>
          <a:p>
            <a:pPr marL="0" indent="0" algn="l">
              <a:lnSpc>
                <a:spcPct val="96000"/>
              </a:lnSpc>
              <a:buNone/>
            </a:pPr>
            <a:r>
              <a:rPr lang="en-US" sz="36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4.7 average rating</a:t>
            </a:r>
            <a:endParaRPr lang="en-US" sz="3600" dirty="0"/>
          </a:p>
        </p:txBody>
      </p:sp>
      <p:sp>
        <p:nvSpPr>
          <p:cNvPr id="14" name="Text 11"/>
          <p:cNvSpPr/>
          <p:nvPr/>
        </p:nvSpPr>
        <p:spPr>
          <a:xfrm>
            <a:off x="609585" y="6286500"/>
            <a:ext cx="6902277"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Times New Roman" panose="02020603050405020304" pitchFamily="18" charset="0"/>
                <a:ea typeface="Hanken Grotesk" pitchFamily="34" charset="-122"/>
                <a:cs typeface="Times New Roman" panose="02020603050405020304" pitchFamily="18" charset="0"/>
              </a:rPr>
              <a:t>Mentor dashboard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Text 0"/>
          <p:cNvSpPr/>
          <p:nvPr/>
        </p:nvSpPr>
        <p:spPr>
          <a:xfrm>
            <a:off x="180971" y="381000"/>
            <a:ext cx="11524962" cy="506710"/>
          </a:xfrm>
          <a:prstGeom prst="rect">
            <a:avLst/>
          </a:prstGeom>
          <a:noFill/>
          <a:ln/>
        </p:spPr>
        <p:txBody>
          <a:bodyPr wrap="none" lIns="0" tIns="0" rIns="0" bIns="0" rtlCol="0" anchor="t"/>
          <a:lstStyle/>
          <a:p>
            <a:pPr marL="0" indent="0" algn="l">
              <a:lnSpc>
                <a:spcPct val="79000"/>
              </a:lnSpc>
              <a:buNone/>
            </a:pPr>
            <a:r>
              <a:rPr lang="en-US" sz="36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ADMINS MODERATE EVERY SERVICE AND BOOKING</a:t>
            </a:r>
            <a:endParaRPr lang="en-US" sz="3600" dirty="0"/>
          </a:p>
        </p:txBody>
      </p:sp>
      <p:sp>
        <p:nvSpPr>
          <p:cNvPr id="4" name="Shape 1"/>
          <p:cNvSpPr/>
          <p:nvPr/>
        </p:nvSpPr>
        <p:spPr>
          <a:xfrm>
            <a:off x="0" y="1270000"/>
            <a:ext cx="12191695" cy="1371600"/>
          </a:xfrm>
          <a:prstGeom prst="rect">
            <a:avLst/>
          </a:prstGeom>
          <a:solidFill>
            <a:srgbClr val="FF8424"/>
          </a:solidFill>
          <a:ln/>
        </p:spPr>
      </p:sp>
      <p:sp>
        <p:nvSpPr>
          <p:cNvPr id="5" name="Text 2"/>
          <p:cNvSpPr/>
          <p:nvPr/>
        </p:nvSpPr>
        <p:spPr>
          <a:xfrm>
            <a:off x="609585" y="1524000"/>
            <a:ext cx="3244769" cy="408880"/>
          </a:xfrm>
          <a:prstGeom prst="rect">
            <a:avLst/>
          </a:prstGeom>
          <a:noFill/>
          <a:ln/>
        </p:spPr>
        <p:txBody>
          <a:bodyPr wrap="none" lIns="0" tIns="0" rIns="0" bIns="0" rtlCol="0" anchor="t"/>
          <a:lstStyle/>
          <a:p>
            <a:pPr marL="0" indent="0" algn="l">
              <a:lnSpc>
                <a:spcPct val="96000"/>
              </a:lnSpc>
              <a:buNone/>
            </a:pPr>
            <a:r>
              <a:rPr lang="en-US" sz="28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4,46,000 taka</a:t>
            </a:r>
            <a:endParaRPr lang="en-US" sz="2800" dirty="0"/>
          </a:p>
        </p:txBody>
      </p:sp>
      <p:sp>
        <p:nvSpPr>
          <p:cNvPr id="6" name="Text 3"/>
          <p:cNvSpPr/>
          <p:nvPr/>
        </p:nvSpPr>
        <p:spPr>
          <a:xfrm>
            <a:off x="609585" y="2095500"/>
            <a:ext cx="3854354"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Times New Roman" panose="02020603050405020304" pitchFamily="18" charset="0"/>
                <a:ea typeface="Hanken Grotesk" pitchFamily="34" charset="-122"/>
                <a:cs typeface="Times New Roman" panose="02020603050405020304" pitchFamily="18" charset="0"/>
              </a:rPr>
              <a:t>Revenue</a:t>
            </a:r>
            <a:endParaRPr lang="en-US" sz="1400" dirty="0"/>
          </a:p>
        </p:txBody>
      </p:sp>
      <p:sp>
        <p:nvSpPr>
          <p:cNvPr id="7" name="Text 4"/>
          <p:cNvSpPr/>
          <p:nvPr/>
        </p:nvSpPr>
        <p:spPr>
          <a:xfrm>
            <a:off x="4419489" y="1524000"/>
            <a:ext cx="3244769" cy="408880"/>
          </a:xfrm>
          <a:prstGeom prst="rect">
            <a:avLst/>
          </a:prstGeom>
          <a:noFill/>
          <a:ln/>
        </p:spPr>
        <p:txBody>
          <a:bodyPr wrap="none" lIns="0" tIns="0" rIns="0" bIns="0" rtlCol="0" anchor="t"/>
          <a:lstStyle/>
          <a:p>
            <a:pPr marL="0" indent="0" algn="l">
              <a:lnSpc>
                <a:spcPct val="96000"/>
              </a:lnSpc>
              <a:buNone/>
            </a:pPr>
            <a:r>
              <a:rPr lang="en-US" sz="28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892 bookings</a:t>
            </a:r>
            <a:endParaRPr lang="en-US" sz="2800" dirty="0"/>
          </a:p>
        </p:txBody>
      </p:sp>
      <p:sp>
        <p:nvSpPr>
          <p:cNvPr id="8" name="Text 5"/>
          <p:cNvSpPr/>
          <p:nvPr/>
        </p:nvSpPr>
        <p:spPr>
          <a:xfrm>
            <a:off x="4419489" y="2095500"/>
            <a:ext cx="3854354"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Times New Roman" panose="02020603050405020304" pitchFamily="18" charset="0"/>
                <a:ea typeface="Hanken Grotesk" pitchFamily="34" charset="-122"/>
                <a:cs typeface="Times New Roman" panose="02020603050405020304" pitchFamily="18" charset="0"/>
              </a:rPr>
              <a:t>Total</a:t>
            </a:r>
            <a:endParaRPr lang="en-US" sz="1400" dirty="0"/>
          </a:p>
        </p:txBody>
      </p:sp>
      <p:sp>
        <p:nvSpPr>
          <p:cNvPr id="9" name="Text 6"/>
          <p:cNvSpPr/>
          <p:nvPr/>
        </p:nvSpPr>
        <p:spPr>
          <a:xfrm>
            <a:off x="8229394" y="1524000"/>
            <a:ext cx="3244769" cy="408880"/>
          </a:xfrm>
          <a:prstGeom prst="rect">
            <a:avLst/>
          </a:prstGeom>
          <a:noFill/>
          <a:ln/>
        </p:spPr>
        <p:txBody>
          <a:bodyPr wrap="none" lIns="0" tIns="0" rIns="0" bIns="0" rtlCol="0" anchor="t"/>
          <a:lstStyle/>
          <a:p>
            <a:pPr marL="0" indent="0" algn="l">
              <a:lnSpc>
                <a:spcPct val="96000"/>
              </a:lnSpc>
              <a:buNone/>
            </a:pPr>
            <a:r>
              <a:rPr lang="en-US" sz="28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1,621 users</a:t>
            </a:r>
            <a:endParaRPr lang="en-US" sz="2800" dirty="0"/>
          </a:p>
        </p:txBody>
      </p:sp>
      <p:sp>
        <p:nvSpPr>
          <p:cNvPr id="10" name="Text 7"/>
          <p:cNvSpPr/>
          <p:nvPr/>
        </p:nvSpPr>
        <p:spPr>
          <a:xfrm>
            <a:off x="8229394" y="2095500"/>
            <a:ext cx="3854354"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Times New Roman" panose="02020603050405020304" pitchFamily="18" charset="0"/>
                <a:ea typeface="Hanken Grotesk" pitchFamily="34" charset="-122"/>
                <a:cs typeface="Times New Roman" panose="02020603050405020304" pitchFamily="18" charset="0"/>
              </a:rPr>
              <a:t>New</a:t>
            </a:r>
            <a:endParaRPr lang="en-US" sz="1400" dirty="0"/>
          </a:p>
        </p:txBody>
      </p:sp>
      <p:sp>
        <p:nvSpPr>
          <p:cNvPr id="11" name="Shape 8"/>
          <p:cNvSpPr/>
          <p:nvPr/>
        </p:nvSpPr>
        <p:spPr>
          <a:xfrm>
            <a:off x="609585" y="2946400"/>
            <a:ext cx="5333867" cy="3556000"/>
          </a:xfrm>
          <a:prstGeom prst="rect">
            <a:avLst/>
          </a:prstGeom>
          <a:solidFill>
            <a:srgbClr val="16171D"/>
          </a:solidFill>
          <a:ln/>
        </p:spPr>
      </p:sp>
      <p:sp>
        <p:nvSpPr>
          <p:cNvPr id="12" name="Shape 9"/>
          <p:cNvSpPr/>
          <p:nvPr/>
        </p:nvSpPr>
        <p:spPr>
          <a:xfrm>
            <a:off x="6248244" y="2946400"/>
            <a:ext cx="5333867" cy="3556000"/>
          </a:xfrm>
          <a:prstGeom prst="rect">
            <a:avLst/>
          </a:prstGeom>
          <a:solidFill>
            <a:srgbClr val="16171D"/>
          </a:solidFill>
          <a:ln/>
        </p:spPr>
      </p:sp>
      <p:sp>
        <p:nvSpPr>
          <p:cNvPr id="13" name="Text 10"/>
          <p:cNvSpPr/>
          <p:nvPr/>
        </p:nvSpPr>
        <p:spPr>
          <a:xfrm>
            <a:off x="863578" y="3149600"/>
            <a:ext cx="4768731"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Users and services</a:t>
            </a:r>
            <a:endParaRPr lang="en-US" sz="2200" dirty="0"/>
          </a:p>
        </p:txBody>
      </p:sp>
      <p:sp>
        <p:nvSpPr>
          <p:cNvPr id="14" name="Text 11"/>
          <p:cNvSpPr/>
          <p:nvPr/>
        </p:nvSpPr>
        <p:spPr>
          <a:xfrm>
            <a:off x="863578" y="3683000"/>
            <a:ext cx="4768731" cy="1470422"/>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rgbClr val="FFFFFF"/>
                </a:solidFill>
                <a:latin typeface="Times New Roman" panose="02020603050405020304" pitchFamily="18" charset="0"/>
                <a:ea typeface="Hanken Grotesk" pitchFamily="34" charset="-122"/>
                <a:cs typeface="Times New Roman" panose="02020603050405020304" pitchFamily="18" charset="0"/>
              </a:rPr>
              <a:t>User management: 7 users</a:t>
            </a:r>
            <a:endParaRPr lang="en-US" sz="1800" dirty="0"/>
          </a:p>
          <a:p>
            <a:pPr marL="365760" indent="-365760" algn="l">
              <a:lnSpc>
                <a:spcPct val="117000"/>
              </a:lnSpc>
              <a:buSzPct val="100000"/>
              <a:buChar char="•"/>
            </a:pPr>
            <a:r>
              <a:rPr lang="en-US" sz="1800" dirty="0">
                <a:solidFill>
                  <a:srgbClr val="FFFFFF"/>
                </a:solidFill>
                <a:latin typeface="Times New Roman" panose="02020603050405020304" pitchFamily="18" charset="0"/>
                <a:ea typeface="Hanken Grotesk" pitchFamily="34" charset="-122"/>
                <a:cs typeface="Times New Roman" panose="02020603050405020304" pitchFamily="18" charset="0"/>
              </a:rPr>
              <a:t>Roles: student, mentor, faculty, admin</a:t>
            </a:r>
            <a:endParaRPr lang="en-US" sz="1800" dirty="0"/>
          </a:p>
          <a:p>
            <a:pPr marL="365760" indent="-365760" algn="l">
              <a:lnSpc>
                <a:spcPct val="117000"/>
              </a:lnSpc>
              <a:buSzPct val="100000"/>
              <a:buChar char="•"/>
            </a:pPr>
            <a:r>
              <a:rPr lang="en-US" sz="1800" dirty="0">
                <a:solidFill>
                  <a:srgbClr val="FFFFFF"/>
                </a:solidFill>
                <a:latin typeface="Times New Roman" panose="02020603050405020304" pitchFamily="18" charset="0"/>
                <a:ea typeface="Hanken Grotesk" pitchFamily="34" charset="-122"/>
                <a:cs typeface="Times New Roman" panose="02020603050405020304" pitchFamily="18" charset="0"/>
              </a:rPr>
              <a:t>Service approvals</a:t>
            </a:r>
            <a:endParaRPr lang="en-US" sz="1800" dirty="0"/>
          </a:p>
          <a:p>
            <a:pPr marL="365760" indent="-365760" algn="l">
              <a:lnSpc>
                <a:spcPct val="117000"/>
              </a:lnSpc>
              <a:buSzPct val="100000"/>
              <a:buChar char="•"/>
            </a:pPr>
            <a:r>
              <a:rPr lang="en-US" sz="1800" dirty="0">
                <a:solidFill>
                  <a:srgbClr val="FFFFFF"/>
                </a:solidFill>
                <a:latin typeface="Times New Roman" panose="02020603050405020304" pitchFamily="18" charset="0"/>
                <a:ea typeface="Hanken Grotesk" pitchFamily="34" charset="-122"/>
                <a:cs typeface="Times New Roman" panose="02020603050405020304" pitchFamily="18" charset="0"/>
              </a:rPr>
              <a:t>Reports and analytics</a:t>
            </a:r>
            <a:endParaRPr lang="en-US" sz="1800" dirty="0"/>
          </a:p>
        </p:txBody>
      </p:sp>
      <p:sp>
        <p:nvSpPr>
          <p:cNvPr id="15" name="Text 12"/>
          <p:cNvSpPr/>
          <p:nvPr/>
        </p:nvSpPr>
        <p:spPr>
          <a:xfrm>
            <a:off x="6502237" y="3149600"/>
            <a:ext cx="4768731"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Booking management</a:t>
            </a:r>
            <a:endParaRPr lang="en-US" sz="2200" dirty="0"/>
          </a:p>
        </p:txBody>
      </p:sp>
      <p:sp>
        <p:nvSpPr>
          <p:cNvPr id="16" name="Text 13"/>
          <p:cNvSpPr/>
          <p:nvPr/>
        </p:nvSpPr>
        <p:spPr>
          <a:xfrm>
            <a:off x="6502237" y="3683000"/>
            <a:ext cx="4768731" cy="703461"/>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rgbClr val="FFFFFF"/>
                </a:solidFill>
                <a:latin typeface="Times New Roman" panose="02020603050405020304" pitchFamily="18" charset="0"/>
                <a:ea typeface="Hanken Grotesk" pitchFamily="34" charset="-122"/>
                <a:cs typeface="Times New Roman" panose="02020603050405020304" pitchFamily="18" charset="0"/>
              </a:rPr>
              <a:t>Status: Confirmed, Pending, Completed</a:t>
            </a:r>
            <a:endParaRPr lang="en-US" sz="1800" dirty="0"/>
          </a:p>
          <a:p>
            <a:pPr marL="365760" indent="-365760" algn="l">
              <a:lnSpc>
                <a:spcPct val="117000"/>
              </a:lnSpc>
              <a:buSzPct val="100000"/>
              <a:buChar char="•"/>
            </a:pPr>
            <a:r>
              <a:rPr lang="en-US" sz="1800" dirty="0">
                <a:solidFill>
                  <a:srgbClr val="FFFFFF"/>
                </a:solidFill>
                <a:latin typeface="Times New Roman" panose="02020603050405020304" pitchFamily="18" charset="0"/>
                <a:ea typeface="Hanken Grotesk" pitchFamily="34" charset="-122"/>
                <a:cs typeface="Times New Roman" panose="02020603050405020304" pitchFamily="18" charset="0"/>
              </a:rPr>
              <a:t>Payment: In Escrow, Pending, Released</a:t>
            </a:r>
            <a:endParaRPr lang="en-US" sz="1800" dirty="0"/>
          </a:p>
        </p:txBody>
      </p:sp>
      <p:sp>
        <p:nvSpPr>
          <p:cNvPr id="17" name="Rectangle 16">
            <a:extLst>
              <a:ext uri="{FF2B5EF4-FFF2-40B4-BE49-F238E27FC236}">
                <a16:creationId xmlns:a16="http://schemas.microsoft.com/office/drawing/2014/main" id="{508BA272-F037-315E-27E6-DFFD9D9C4838}"/>
              </a:ext>
            </a:extLst>
          </p:cNvPr>
          <p:cNvSpPr/>
          <p:nvPr/>
        </p:nvSpPr>
        <p:spPr>
          <a:xfrm>
            <a:off x="11055420" y="6522839"/>
            <a:ext cx="1114794" cy="298847"/>
          </a:xfrm>
          <a:prstGeom prst="rect">
            <a:avLst/>
          </a:prstGeom>
          <a:solidFill>
            <a:srgbClr val="FBFAF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Text 0"/>
          <p:cNvSpPr/>
          <p:nvPr/>
        </p:nvSpPr>
        <p:spPr>
          <a:xfrm>
            <a:off x="180970" y="407827"/>
            <a:ext cx="11524962" cy="579041"/>
          </a:xfrm>
          <a:prstGeom prst="rect">
            <a:avLst/>
          </a:prstGeom>
          <a:noFill/>
          <a:ln/>
        </p:spPr>
        <p:txBody>
          <a:bodyPr wrap="none" lIns="0" tIns="0" rIns="0" bIns="0" rtlCol="0" anchor="t"/>
          <a:lstStyle/>
          <a:p>
            <a:pPr marL="0" indent="0" algn="l">
              <a:lnSpc>
                <a:spcPct val="79000"/>
              </a:lnSpc>
              <a:buNone/>
            </a:pPr>
            <a:r>
              <a:rPr lang="en-US" sz="48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TESTED AGAINST EVERY REQUIREMENT</a:t>
            </a:r>
            <a:endParaRPr lang="en-US" sz="4800" dirty="0"/>
          </a:p>
        </p:txBody>
      </p:sp>
      <p:sp>
        <p:nvSpPr>
          <p:cNvPr id="4" name="Shape 1"/>
          <p:cNvSpPr/>
          <p:nvPr/>
        </p:nvSpPr>
        <p:spPr>
          <a:xfrm>
            <a:off x="0" y="1397000"/>
            <a:ext cx="12191695" cy="2159000"/>
          </a:xfrm>
          <a:prstGeom prst="rect">
            <a:avLst/>
          </a:prstGeom>
          <a:solidFill>
            <a:srgbClr val="FF8424"/>
          </a:solidFill>
          <a:ln/>
        </p:spPr>
      </p:sp>
      <p:sp>
        <p:nvSpPr>
          <p:cNvPr id="5" name="Text 2"/>
          <p:cNvSpPr/>
          <p:nvPr/>
        </p:nvSpPr>
        <p:spPr>
          <a:xfrm>
            <a:off x="609585" y="1587500"/>
            <a:ext cx="3244769" cy="747713"/>
          </a:xfrm>
          <a:prstGeom prst="rect">
            <a:avLst/>
          </a:prstGeom>
          <a:noFill/>
          <a:ln/>
        </p:spPr>
        <p:txBody>
          <a:bodyPr wrap="none" lIns="0" tIns="0" rIns="0" bIns="0" rtlCol="0" anchor="t"/>
          <a:lstStyle/>
          <a:p>
            <a:pPr marL="0" indent="0" algn="l">
              <a:lnSpc>
                <a:spcPct val="77000"/>
              </a:lnSpc>
              <a:buNone/>
            </a:pPr>
            <a:r>
              <a:rPr lang="en-US" sz="6400" dirty="0">
                <a:solidFill>
                  <a:srgbClr val="000000"/>
                </a:solidFill>
                <a:latin typeface="Times New Roman" panose="02020603050405020304" pitchFamily="18" charset="0"/>
                <a:ea typeface="Big Shoulders ExtraBold" pitchFamily="34" charset="-122"/>
                <a:cs typeface="Times New Roman" panose="02020603050405020304" pitchFamily="18" charset="0"/>
              </a:rPr>
              <a:t>64</a:t>
            </a:r>
            <a:endParaRPr lang="en-US" sz="6400" dirty="0"/>
          </a:p>
        </p:txBody>
      </p:sp>
      <p:sp>
        <p:nvSpPr>
          <p:cNvPr id="6" name="Text 3"/>
          <p:cNvSpPr/>
          <p:nvPr/>
        </p:nvSpPr>
        <p:spPr>
          <a:xfrm>
            <a:off x="609585" y="2730500"/>
            <a:ext cx="3981350"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Times New Roman" panose="02020603050405020304" pitchFamily="18" charset="0"/>
                <a:ea typeface="Hanken Grotesk" pitchFamily="34" charset="-122"/>
                <a:cs typeface="Times New Roman" panose="02020603050405020304" pitchFamily="18" charset="0"/>
              </a:rPr>
              <a:t>Functional requirements</a:t>
            </a:r>
            <a:endParaRPr lang="en-US" sz="1600" dirty="0"/>
          </a:p>
        </p:txBody>
      </p:sp>
      <p:sp>
        <p:nvSpPr>
          <p:cNvPr id="7" name="Text 4"/>
          <p:cNvSpPr/>
          <p:nvPr/>
        </p:nvSpPr>
        <p:spPr>
          <a:xfrm>
            <a:off x="4419489" y="1587500"/>
            <a:ext cx="3244769" cy="747713"/>
          </a:xfrm>
          <a:prstGeom prst="rect">
            <a:avLst/>
          </a:prstGeom>
          <a:noFill/>
          <a:ln/>
        </p:spPr>
        <p:txBody>
          <a:bodyPr wrap="none" lIns="0" tIns="0" rIns="0" bIns="0" rtlCol="0" anchor="t"/>
          <a:lstStyle/>
          <a:p>
            <a:pPr marL="0" indent="0" algn="l">
              <a:lnSpc>
                <a:spcPct val="77000"/>
              </a:lnSpc>
              <a:buNone/>
            </a:pPr>
            <a:r>
              <a:rPr lang="en-US" sz="6400" dirty="0">
                <a:solidFill>
                  <a:srgbClr val="000000"/>
                </a:solidFill>
                <a:latin typeface="Times New Roman" panose="02020603050405020304" pitchFamily="18" charset="0"/>
                <a:ea typeface="Big Shoulders ExtraBold" pitchFamily="34" charset="-122"/>
                <a:cs typeface="Times New Roman" panose="02020603050405020304" pitchFamily="18" charset="0"/>
              </a:rPr>
              <a:t>15</a:t>
            </a:r>
            <a:endParaRPr lang="en-US" sz="6400" dirty="0"/>
          </a:p>
        </p:txBody>
      </p:sp>
      <p:sp>
        <p:nvSpPr>
          <p:cNvPr id="8" name="Text 5"/>
          <p:cNvSpPr/>
          <p:nvPr/>
        </p:nvSpPr>
        <p:spPr>
          <a:xfrm>
            <a:off x="4419489" y="2730500"/>
            <a:ext cx="3981350"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Times New Roman" panose="02020603050405020304" pitchFamily="18" charset="0"/>
                <a:ea typeface="Hanken Grotesk" pitchFamily="34" charset="-122"/>
                <a:cs typeface="Times New Roman" panose="02020603050405020304" pitchFamily="18" charset="0"/>
              </a:rPr>
              <a:t>Test cases · 60+ in full suite</a:t>
            </a:r>
            <a:endParaRPr lang="en-US" sz="1600" dirty="0"/>
          </a:p>
        </p:txBody>
      </p:sp>
      <p:sp>
        <p:nvSpPr>
          <p:cNvPr id="9" name="Text 6"/>
          <p:cNvSpPr/>
          <p:nvPr/>
        </p:nvSpPr>
        <p:spPr>
          <a:xfrm>
            <a:off x="8229394" y="1587500"/>
            <a:ext cx="3244769" cy="747713"/>
          </a:xfrm>
          <a:prstGeom prst="rect">
            <a:avLst/>
          </a:prstGeom>
          <a:noFill/>
          <a:ln/>
        </p:spPr>
        <p:txBody>
          <a:bodyPr wrap="none" lIns="0" tIns="0" rIns="0" bIns="0" rtlCol="0" anchor="t"/>
          <a:lstStyle/>
          <a:p>
            <a:pPr marL="0" indent="0" algn="l">
              <a:lnSpc>
                <a:spcPct val="77000"/>
              </a:lnSpc>
              <a:buNone/>
            </a:pPr>
            <a:r>
              <a:rPr lang="en-US" sz="6400" dirty="0">
                <a:solidFill>
                  <a:srgbClr val="000000"/>
                </a:solidFill>
                <a:latin typeface="Times New Roman" panose="02020603050405020304" pitchFamily="18" charset="0"/>
                <a:ea typeface="Big Shoulders ExtraBold" pitchFamily="34" charset="-122"/>
                <a:cs typeface="Times New Roman" panose="02020603050405020304" pitchFamily="18" charset="0"/>
              </a:rPr>
              <a:t>0</a:t>
            </a:r>
            <a:endParaRPr lang="en-US" sz="6400" dirty="0"/>
          </a:p>
        </p:txBody>
      </p:sp>
      <p:sp>
        <p:nvSpPr>
          <p:cNvPr id="10" name="Text 7"/>
          <p:cNvSpPr/>
          <p:nvPr/>
        </p:nvSpPr>
        <p:spPr>
          <a:xfrm>
            <a:off x="8229394" y="2730500"/>
            <a:ext cx="3962301" cy="284460"/>
          </a:xfrm>
          <a:prstGeom prst="rect">
            <a:avLst/>
          </a:prstGeom>
          <a:noFill/>
          <a:ln/>
        </p:spPr>
        <p:txBody>
          <a:bodyPr wrap="none" lIns="0" tIns="0" rIns="0" bIns="0" rtlCol="0" anchor="t"/>
          <a:lstStyle/>
          <a:p>
            <a:pPr marL="0" indent="0" algn="l">
              <a:lnSpc>
                <a:spcPct val="117000"/>
              </a:lnSpc>
              <a:buNone/>
            </a:pPr>
            <a:r>
              <a:rPr lang="en-US" sz="1600" dirty="0">
                <a:solidFill>
                  <a:srgbClr val="000000"/>
                </a:solidFill>
                <a:latin typeface="Times New Roman" panose="02020603050405020304" pitchFamily="18" charset="0"/>
                <a:ea typeface="Hanken Grotesk" pitchFamily="34" charset="-122"/>
                <a:cs typeface="Times New Roman" panose="02020603050405020304" pitchFamily="18" charset="0"/>
              </a:rPr>
              <a:t>Uncovered M-priority requirements</a:t>
            </a:r>
            <a:endParaRPr lang="en-US" sz="1600" dirty="0"/>
          </a:p>
        </p:txBody>
      </p:sp>
      <p:sp>
        <p:nvSpPr>
          <p:cNvPr id="11" name="Text 8"/>
          <p:cNvSpPr/>
          <p:nvPr/>
        </p:nvSpPr>
        <p:spPr>
          <a:xfrm>
            <a:off x="609585" y="3937000"/>
            <a:ext cx="10915377"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Testing scope</a:t>
            </a:r>
            <a:endParaRPr lang="en-US" sz="2200" dirty="0"/>
          </a:p>
        </p:txBody>
      </p:sp>
      <p:sp>
        <p:nvSpPr>
          <p:cNvPr id="12" name="Shape 9"/>
          <p:cNvSpPr/>
          <p:nvPr/>
        </p:nvSpPr>
        <p:spPr>
          <a:xfrm>
            <a:off x="609585" y="4572000"/>
            <a:ext cx="2539936" cy="660400"/>
          </a:xfrm>
          <a:prstGeom prst="rect">
            <a:avLst/>
          </a:prstGeom>
          <a:solidFill>
            <a:srgbClr val="16171D"/>
          </a:solidFill>
          <a:ln/>
        </p:spPr>
      </p:sp>
      <p:sp>
        <p:nvSpPr>
          <p:cNvPr id="13" name="Text 10"/>
          <p:cNvSpPr/>
          <p:nvPr/>
        </p:nvSpPr>
        <p:spPr>
          <a:xfrm>
            <a:off x="812780" y="4737100"/>
            <a:ext cx="2101797" cy="292100"/>
          </a:xfrm>
          <a:prstGeom prst="rect">
            <a:avLst/>
          </a:prstGeom>
          <a:noFill/>
          <a:ln/>
        </p:spPr>
        <p:txBody>
          <a:bodyPr wrap="none" lIns="0" tIns="0" rIns="0" bIns="0" rtlCol="0" anchor="t"/>
          <a:lstStyle/>
          <a:p>
            <a:pPr marL="0" indent="0" algn="l">
              <a:lnSpc>
                <a:spcPct val="96000"/>
              </a:lnSpc>
              <a:buNone/>
            </a:pPr>
            <a:r>
              <a:rPr lang="en-US" sz="20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Unit</a:t>
            </a:r>
            <a:endParaRPr lang="en-US" sz="2000" dirty="0"/>
          </a:p>
        </p:txBody>
      </p:sp>
      <p:sp>
        <p:nvSpPr>
          <p:cNvPr id="14" name="Shape 11"/>
          <p:cNvSpPr/>
          <p:nvPr/>
        </p:nvSpPr>
        <p:spPr>
          <a:xfrm>
            <a:off x="3403515" y="4572000"/>
            <a:ext cx="2539936" cy="660400"/>
          </a:xfrm>
          <a:prstGeom prst="rect">
            <a:avLst/>
          </a:prstGeom>
          <a:solidFill>
            <a:srgbClr val="16171D"/>
          </a:solidFill>
          <a:ln/>
        </p:spPr>
      </p:sp>
      <p:sp>
        <p:nvSpPr>
          <p:cNvPr id="15" name="Text 12"/>
          <p:cNvSpPr/>
          <p:nvPr/>
        </p:nvSpPr>
        <p:spPr>
          <a:xfrm>
            <a:off x="3606710" y="4737100"/>
            <a:ext cx="2101797" cy="292100"/>
          </a:xfrm>
          <a:prstGeom prst="rect">
            <a:avLst/>
          </a:prstGeom>
          <a:noFill/>
          <a:ln/>
        </p:spPr>
        <p:txBody>
          <a:bodyPr wrap="none" lIns="0" tIns="0" rIns="0" bIns="0" rtlCol="0" anchor="t"/>
          <a:lstStyle/>
          <a:p>
            <a:pPr marL="0" indent="0" algn="l">
              <a:lnSpc>
                <a:spcPct val="96000"/>
              </a:lnSpc>
              <a:buNone/>
            </a:pPr>
            <a:r>
              <a:rPr lang="en-US" sz="20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Integration</a:t>
            </a:r>
            <a:endParaRPr lang="en-US" sz="2000" dirty="0"/>
          </a:p>
        </p:txBody>
      </p:sp>
      <p:sp>
        <p:nvSpPr>
          <p:cNvPr id="16" name="Shape 13"/>
          <p:cNvSpPr/>
          <p:nvPr/>
        </p:nvSpPr>
        <p:spPr>
          <a:xfrm>
            <a:off x="6197445" y="4572000"/>
            <a:ext cx="2539936" cy="660400"/>
          </a:xfrm>
          <a:prstGeom prst="rect">
            <a:avLst/>
          </a:prstGeom>
          <a:solidFill>
            <a:srgbClr val="16171D"/>
          </a:solidFill>
          <a:ln/>
        </p:spPr>
      </p:sp>
      <p:sp>
        <p:nvSpPr>
          <p:cNvPr id="17" name="Text 14"/>
          <p:cNvSpPr/>
          <p:nvPr/>
        </p:nvSpPr>
        <p:spPr>
          <a:xfrm>
            <a:off x="6400640" y="4737100"/>
            <a:ext cx="2101797" cy="292100"/>
          </a:xfrm>
          <a:prstGeom prst="rect">
            <a:avLst/>
          </a:prstGeom>
          <a:noFill/>
          <a:ln/>
        </p:spPr>
        <p:txBody>
          <a:bodyPr wrap="none" lIns="0" tIns="0" rIns="0" bIns="0" rtlCol="0" anchor="t"/>
          <a:lstStyle/>
          <a:p>
            <a:pPr marL="0" indent="0" algn="l">
              <a:lnSpc>
                <a:spcPct val="96000"/>
              </a:lnSpc>
              <a:buNone/>
            </a:pPr>
            <a:r>
              <a:rPr lang="en-US" sz="20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System</a:t>
            </a:r>
            <a:endParaRPr lang="en-US" sz="2000" dirty="0"/>
          </a:p>
        </p:txBody>
      </p:sp>
      <p:sp>
        <p:nvSpPr>
          <p:cNvPr id="18" name="Shape 15"/>
          <p:cNvSpPr/>
          <p:nvPr/>
        </p:nvSpPr>
        <p:spPr>
          <a:xfrm>
            <a:off x="8991375" y="4572000"/>
            <a:ext cx="2539936" cy="660400"/>
          </a:xfrm>
          <a:prstGeom prst="rect">
            <a:avLst/>
          </a:prstGeom>
          <a:solidFill>
            <a:srgbClr val="16171D"/>
          </a:solidFill>
          <a:ln/>
        </p:spPr>
      </p:sp>
      <p:sp>
        <p:nvSpPr>
          <p:cNvPr id="19" name="Text 16"/>
          <p:cNvSpPr/>
          <p:nvPr/>
        </p:nvSpPr>
        <p:spPr>
          <a:xfrm>
            <a:off x="9194570" y="4737100"/>
            <a:ext cx="2101797" cy="292100"/>
          </a:xfrm>
          <a:prstGeom prst="rect">
            <a:avLst/>
          </a:prstGeom>
          <a:noFill/>
          <a:ln/>
        </p:spPr>
        <p:txBody>
          <a:bodyPr wrap="none" lIns="0" tIns="0" rIns="0" bIns="0" rtlCol="0" anchor="t"/>
          <a:lstStyle/>
          <a:p>
            <a:pPr marL="0" indent="0" algn="l">
              <a:lnSpc>
                <a:spcPct val="96000"/>
              </a:lnSpc>
              <a:buNone/>
            </a:pPr>
            <a:r>
              <a:rPr lang="en-US" sz="20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Acceptance</a:t>
            </a:r>
            <a:endParaRPr lang="en-US" sz="2000" dirty="0"/>
          </a:p>
        </p:txBody>
      </p:sp>
      <p:sp>
        <p:nvSpPr>
          <p:cNvPr id="20" name="Shape 17"/>
          <p:cNvSpPr/>
          <p:nvPr/>
        </p:nvSpPr>
        <p:spPr>
          <a:xfrm>
            <a:off x="609585" y="5461000"/>
            <a:ext cx="2539936" cy="660400"/>
          </a:xfrm>
          <a:prstGeom prst="rect">
            <a:avLst/>
          </a:prstGeom>
          <a:solidFill>
            <a:srgbClr val="16171D"/>
          </a:solidFill>
          <a:ln/>
        </p:spPr>
      </p:sp>
      <p:sp>
        <p:nvSpPr>
          <p:cNvPr id="21" name="Text 18"/>
          <p:cNvSpPr/>
          <p:nvPr/>
        </p:nvSpPr>
        <p:spPr>
          <a:xfrm>
            <a:off x="812780" y="5626100"/>
            <a:ext cx="2101797" cy="292100"/>
          </a:xfrm>
          <a:prstGeom prst="rect">
            <a:avLst/>
          </a:prstGeom>
          <a:noFill/>
          <a:ln/>
        </p:spPr>
        <p:txBody>
          <a:bodyPr wrap="none" lIns="0" tIns="0" rIns="0" bIns="0" rtlCol="0" anchor="t"/>
          <a:lstStyle/>
          <a:p>
            <a:pPr marL="0" indent="0" algn="l">
              <a:lnSpc>
                <a:spcPct val="96000"/>
              </a:lnSpc>
              <a:buNone/>
            </a:pPr>
            <a:r>
              <a:rPr lang="en-US" sz="20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Regression</a:t>
            </a:r>
            <a:endParaRPr lang="en-US" sz="2000" dirty="0"/>
          </a:p>
        </p:txBody>
      </p:sp>
      <p:sp>
        <p:nvSpPr>
          <p:cNvPr id="22" name="Shape 19"/>
          <p:cNvSpPr/>
          <p:nvPr/>
        </p:nvSpPr>
        <p:spPr>
          <a:xfrm>
            <a:off x="3403515" y="5461000"/>
            <a:ext cx="2539936" cy="660400"/>
          </a:xfrm>
          <a:prstGeom prst="rect">
            <a:avLst/>
          </a:prstGeom>
          <a:solidFill>
            <a:srgbClr val="16171D"/>
          </a:solidFill>
          <a:ln/>
        </p:spPr>
      </p:sp>
      <p:sp>
        <p:nvSpPr>
          <p:cNvPr id="23" name="Text 20"/>
          <p:cNvSpPr/>
          <p:nvPr/>
        </p:nvSpPr>
        <p:spPr>
          <a:xfrm>
            <a:off x="3606710" y="5626100"/>
            <a:ext cx="2101797" cy="292100"/>
          </a:xfrm>
          <a:prstGeom prst="rect">
            <a:avLst/>
          </a:prstGeom>
          <a:noFill/>
          <a:ln/>
        </p:spPr>
        <p:txBody>
          <a:bodyPr wrap="none" lIns="0" tIns="0" rIns="0" bIns="0" rtlCol="0" anchor="t"/>
          <a:lstStyle/>
          <a:p>
            <a:pPr marL="0" indent="0" algn="l">
              <a:lnSpc>
                <a:spcPct val="96000"/>
              </a:lnSpc>
              <a:buNone/>
            </a:pPr>
            <a:r>
              <a:rPr lang="en-US" sz="20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Security</a:t>
            </a:r>
            <a:endParaRPr lang="en-US" sz="2000" dirty="0"/>
          </a:p>
        </p:txBody>
      </p:sp>
      <p:sp>
        <p:nvSpPr>
          <p:cNvPr id="24" name="Shape 21"/>
          <p:cNvSpPr/>
          <p:nvPr/>
        </p:nvSpPr>
        <p:spPr>
          <a:xfrm>
            <a:off x="6197445" y="5461000"/>
            <a:ext cx="2539936" cy="660400"/>
          </a:xfrm>
          <a:prstGeom prst="rect">
            <a:avLst/>
          </a:prstGeom>
          <a:solidFill>
            <a:srgbClr val="16171D"/>
          </a:solidFill>
          <a:ln/>
        </p:spPr>
      </p:sp>
      <p:sp>
        <p:nvSpPr>
          <p:cNvPr id="25" name="Text 22"/>
          <p:cNvSpPr/>
          <p:nvPr/>
        </p:nvSpPr>
        <p:spPr>
          <a:xfrm>
            <a:off x="6400640" y="5626100"/>
            <a:ext cx="2101797" cy="292100"/>
          </a:xfrm>
          <a:prstGeom prst="rect">
            <a:avLst/>
          </a:prstGeom>
          <a:noFill/>
          <a:ln/>
        </p:spPr>
        <p:txBody>
          <a:bodyPr wrap="none" lIns="0" tIns="0" rIns="0" bIns="0" rtlCol="0" anchor="t"/>
          <a:lstStyle/>
          <a:p>
            <a:pPr marL="0" indent="0" algn="l">
              <a:lnSpc>
                <a:spcPct val="96000"/>
              </a:lnSpc>
              <a:buNone/>
            </a:pPr>
            <a:r>
              <a:rPr lang="en-US" sz="20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Performance</a:t>
            </a:r>
            <a:endParaRPr lang="en-US" sz="2000" dirty="0"/>
          </a:p>
        </p:txBody>
      </p:sp>
      <p:sp>
        <p:nvSpPr>
          <p:cNvPr id="26" name="Shape 23"/>
          <p:cNvSpPr/>
          <p:nvPr/>
        </p:nvSpPr>
        <p:spPr>
          <a:xfrm>
            <a:off x="8991375" y="5461000"/>
            <a:ext cx="2539936" cy="660400"/>
          </a:xfrm>
          <a:prstGeom prst="rect">
            <a:avLst/>
          </a:prstGeom>
          <a:solidFill>
            <a:srgbClr val="16171D"/>
          </a:solidFill>
          <a:ln/>
        </p:spPr>
      </p:sp>
      <p:sp>
        <p:nvSpPr>
          <p:cNvPr id="27" name="Text 24"/>
          <p:cNvSpPr/>
          <p:nvPr/>
        </p:nvSpPr>
        <p:spPr>
          <a:xfrm>
            <a:off x="9194570" y="5626100"/>
            <a:ext cx="2101797" cy="292100"/>
          </a:xfrm>
          <a:prstGeom prst="rect">
            <a:avLst/>
          </a:prstGeom>
          <a:noFill/>
          <a:ln/>
        </p:spPr>
        <p:txBody>
          <a:bodyPr wrap="none" lIns="0" tIns="0" rIns="0" bIns="0" rtlCol="0" anchor="t"/>
          <a:lstStyle/>
          <a:p>
            <a:pPr marL="0" indent="0" algn="l">
              <a:lnSpc>
                <a:spcPct val="96000"/>
              </a:lnSpc>
              <a:buNone/>
            </a:pPr>
            <a:r>
              <a:rPr lang="en-US" sz="2000" b="1" kern="100" spc="-11" dirty="0">
                <a:solidFill>
                  <a:srgbClr val="FFFFFF"/>
                </a:solidFill>
                <a:latin typeface="Times New Roman" panose="02020603050405020304" pitchFamily="18" charset="0"/>
                <a:ea typeface="Hanken Grotesk Bold" pitchFamily="34" charset="-122"/>
                <a:cs typeface="Times New Roman" panose="02020603050405020304" pitchFamily="18" charset="0"/>
              </a:rPr>
              <a:t>Accessibility</a:t>
            </a:r>
            <a:endParaRPr lang="en-US" sz="2000" dirty="0"/>
          </a:p>
        </p:txBody>
      </p:sp>
      <p:sp>
        <p:nvSpPr>
          <p:cNvPr id="28" name="Rectangle 27">
            <a:extLst>
              <a:ext uri="{FF2B5EF4-FFF2-40B4-BE49-F238E27FC236}">
                <a16:creationId xmlns:a16="http://schemas.microsoft.com/office/drawing/2014/main" id="{F49273BF-6D17-0EDB-D9BE-6F1768E32A72}"/>
              </a:ext>
            </a:extLst>
          </p:cNvPr>
          <p:cNvSpPr/>
          <p:nvPr/>
        </p:nvSpPr>
        <p:spPr>
          <a:xfrm>
            <a:off x="11055420" y="6522839"/>
            <a:ext cx="1114794" cy="298847"/>
          </a:xfrm>
          <a:prstGeom prst="rect">
            <a:avLst/>
          </a:prstGeom>
          <a:solidFill>
            <a:srgbClr val="FBFAF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Text 0"/>
          <p:cNvSpPr/>
          <p:nvPr/>
        </p:nvSpPr>
        <p:spPr>
          <a:xfrm>
            <a:off x="609585" y="381000"/>
            <a:ext cx="11524962" cy="506710"/>
          </a:xfrm>
          <a:prstGeom prst="rect">
            <a:avLst/>
          </a:prstGeom>
          <a:noFill/>
          <a:ln/>
        </p:spPr>
        <p:txBody>
          <a:bodyPr wrap="none" lIns="0" tIns="0" rIns="0" bIns="0" rtlCol="0" anchor="t"/>
          <a:lstStyle/>
          <a:p>
            <a:pPr marL="0" indent="0" algn="l">
              <a:lnSpc>
                <a:spcPct val="79000"/>
              </a:lnSpc>
              <a:buNone/>
            </a:pPr>
            <a:r>
              <a:rPr lang="en-US" sz="4200" kern="100" spc="24" dirty="0">
                <a:solidFill>
                  <a:srgbClr val="16171D"/>
                </a:solidFill>
                <a:latin typeface="Times New Roman" panose="02020603050405020304" pitchFamily="18" charset="0"/>
                <a:ea typeface="Big Shoulders ExtraBold" pitchFamily="34" charset="-122"/>
                <a:cs typeface="Times New Roman" panose="02020603050405020304" pitchFamily="18" charset="0"/>
              </a:rPr>
              <a:t>LIMITATIONS AND WHAT COMES NEXT</a:t>
            </a:r>
            <a:endParaRPr lang="en-US" sz="4200" dirty="0"/>
          </a:p>
        </p:txBody>
      </p:sp>
      <p:sp>
        <p:nvSpPr>
          <p:cNvPr id="4" name="Text 1"/>
          <p:cNvSpPr/>
          <p:nvPr/>
        </p:nvSpPr>
        <p:spPr>
          <a:xfrm>
            <a:off x="609585" y="1397000"/>
            <a:ext cx="5276718" cy="321270"/>
          </a:xfrm>
          <a:prstGeom prst="rect">
            <a:avLst/>
          </a:prstGeom>
          <a:noFill/>
          <a:ln/>
        </p:spPr>
        <p:txBody>
          <a:bodyPr wrap="none" lIns="0" tIns="0" rIns="0" bIns="0" rtlCol="0" anchor="t"/>
          <a:lstStyle/>
          <a:p>
            <a:pPr marL="0" indent="0" algn="l">
              <a:lnSpc>
                <a:spcPct val="96000"/>
              </a:lnSpc>
              <a:buNone/>
            </a:pPr>
            <a:r>
              <a:rPr lang="en-US" sz="2200" b="1" kern="100" spc="-11" dirty="0">
                <a:solidFill>
                  <a:srgbClr val="16171D"/>
                </a:solidFill>
                <a:latin typeface="Times New Roman" panose="02020603050405020304" pitchFamily="18" charset="0"/>
                <a:ea typeface="Hanken Grotesk Bold" pitchFamily="34" charset="-122"/>
                <a:cs typeface="Times New Roman" panose="02020603050405020304" pitchFamily="18" charset="0"/>
              </a:rPr>
              <a:t>Limitations</a:t>
            </a:r>
            <a:endParaRPr lang="en-US" sz="2200" dirty="0"/>
          </a:p>
        </p:txBody>
      </p:sp>
      <p:sp>
        <p:nvSpPr>
          <p:cNvPr id="5" name="Text 2"/>
          <p:cNvSpPr/>
          <p:nvPr/>
        </p:nvSpPr>
        <p:spPr>
          <a:xfrm>
            <a:off x="609585" y="1905000"/>
            <a:ext cx="5276718" cy="2813844"/>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Single-campus UIU scope</a:t>
            </a:r>
            <a:endParaRPr lang="en-US" sz="1800" dirty="0"/>
          </a:p>
          <a:p>
            <a:pPr marL="365760" indent="-365760" algn="l">
              <a:lnSpc>
                <a:spcPct val="117000"/>
              </a:lnSpc>
              <a:buSzPct val="100000"/>
              <a:buChar char="•"/>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Mentor marketplace cold-start</a:t>
            </a:r>
            <a:endParaRPr lang="en-US" sz="1800" dirty="0"/>
          </a:p>
          <a:p>
            <a:pPr marL="365760" indent="-365760" algn="l">
              <a:lnSpc>
                <a:spcPct val="117000"/>
              </a:lnSpc>
              <a:buSzPct val="100000"/>
              <a:buChar char="•"/>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Depends on bKash, Vercel, MongoDB Atlas and API uptime</a:t>
            </a:r>
            <a:endParaRPr lang="en-US" sz="1800" dirty="0"/>
          </a:p>
          <a:p>
            <a:pPr marL="365760" indent="-365760" algn="l">
              <a:lnSpc>
                <a:spcPct val="117000"/>
              </a:lnSpc>
              <a:buSzPct val="100000"/>
              <a:buChar char="•"/>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Content freshness depends on faculty publishing</a:t>
            </a:r>
            <a:endParaRPr lang="en-US" sz="1800" dirty="0"/>
          </a:p>
          <a:p>
            <a:pPr marL="365760" indent="-365760" algn="l">
              <a:lnSpc>
                <a:spcPct val="117000"/>
              </a:lnSpc>
              <a:buSzPct val="100000"/>
              <a:buChar char="•"/>
            </a:pPr>
            <a:r>
              <a:rPr lang="en-US" sz="1800" dirty="0">
                <a:solidFill>
                  <a:srgbClr val="16171D"/>
                </a:solidFill>
                <a:latin typeface="Times New Roman" panose="02020603050405020304" pitchFamily="18" charset="0"/>
                <a:ea typeface="Hanken Grotesk" pitchFamily="34" charset="-122"/>
                <a:cs typeface="Times New Roman" panose="02020603050405020304" pitchFamily="18" charset="0"/>
              </a:rPr>
              <a:t>Native apps, AI tutoring, other payment providers out of scope</a:t>
            </a:r>
            <a:endParaRPr lang="en-US" sz="1800" dirty="0"/>
          </a:p>
        </p:txBody>
      </p:sp>
      <p:sp>
        <p:nvSpPr>
          <p:cNvPr id="6" name="Shape 3"/>
          <p:cNvSpPr/>
          <p:nvPr/>
        </p:nvSpPr>
        <p:spPr>
          <a:xfrm>
            <a:off x="6248244" y="1270000"/>
            <a:ext cx="5943451" cy="5588000"/>
          </a:xfrm>
          <a:prstGeom prst="rect">
            <a:avLst/>
          </a:prstGeom>
          <a:solidFill>
            <a:srgbClr val="16171D"/>
          </a:solidFill>
          <a:ln/>
        </p:spPr>
      </p:sp>
      <p:sp>
        <p:nvSpPr>
          <p:cNvPr id="7" name="Text 4"/>
          <p:cNvSpPr/>
          <p:nvPr/>
        </p:nvSpPr>
        <p:spPr>
          <a:xfrm>
            <a:off x="6553036" y="1524000"/>
            <a:ext cx="5022724" cy="321270"/>
          </a:xfrm>
          <a:prstGeom prst="rect">
            <a:avLst/>
          </a:prstGeom>
          <a:noFill/>
          <a:ln/>
        </p:spPr>
        <p:txBody>
          <a:bodyPr wrap="none" lIns="0" tIns="0" rIns="0" bIns="0" rtlCol="0" anchor="t"/>
          <a:lstStyle/>
          <a:p>
            <a:pPr marL="0" indent="0" algn="l">
              <a:lnSpc>
                <a:spcPct val="96000"/>
              </a:lnSpc>
              <a:buNone/>
            </a:pPr>
            <a:r>
              <a:rPr lang="en-US" sz="2200" b="1" kern="100" spc="-11" dirty="0">
                <a:solidFill>
                  <a:schemeClr val="bg1"/>
                </a:solidFill>
                <a:latin typeface="Times New Roman" panose="02020603050405020304" pitchFamily="18" charset="0"/>
                <a:ea typeface="Hanken Grotesk Bold" pitchFamily="34" charset="-122"/>
                <a:cs typeface="Times New Roman" panose="02020603050405020304" pitchFamily="18" charset="0"/>
              </a:rPr>
              <a:t>What comes next</a:t>
            </a:r>
            <a:endParaRPr lang="en-US" sz="2200" dirty="0">
              <a:solidFill>
                <a:schemeClr val="bg1"/>
              </a:solidFill>
            </a:endParaRPr>
          </a:p>
        </p:txBody>
      </p:sp>
      <p:sp>
        <p:nvSpPr>
          <p:cNvPr id="8" name="Text 5"/>
          <p:cNvSpPr/>
          <p:nvPr/>
        </p:nvSpPr>
        <p:spPr>
          <a:xfrm>
            <a:off x="6553036" y="2032000"/>
            <a:ext cx="5022724" cy="2813844"/>
          </a:xfrm>
          <a:prstGeom prst="rect">
            <a:avLst/>
          </a:prstGeom>
          <a:noFill/>
          <a:ln/>
        </p:spPr>
        <p:txBody>
          <a:bodyPr wrap="square" lIns="0" tIns="0" rIns="0" bIns="0" rtlCol="0" anchor="t">
            <a:normAutofit/>
          </a:bodyPr>
          <a:lstStyle/>
          <a:p>
            <a:pPr marL="365760" indent="-365760" algn="l">
              <a:lnSpc>
                <a:spcPct val="117000"/>
              </a:lnSpc>
              <a:buSzPct val="100000"/>
              <a:buChar char="•"/>
            </a:pPr>
            <a:r>
              <a:rPr lang="en-US" sz="1800" dirty="0">
                <a:solidFill>
                  <a:schemeClr val="bg1"/>
                </a:solidFill>
                <a:latin typeface="Times New Roman" panose="02020603050405020304" pitchFamily="18" charset="0"/>
                <a:ea typeface="Hanken Grotesk" pitchFamily="34" charset="-122"/>
                <a:cs typeface="Times New Roman" panose="02020603050405020304" pitchFamily="18" charset="0"/>
              </a:rPr>
              <a:t>Multi-campus expansion to other Bangladeshi universities</a:t>
            </a:r>
            <a:endParaRPr lang="en-US" sz="1800" dirty="0">
              <a:solidFill>
                <a:schemeClr val="bg1"/>
              </a:solidFill>
            </a:endParaRPr>
          </a:p>
          <a:p>
            <a:pPr marL="365760" indent="-365760" algn="l">
              <a:lnSpc>
                <a:spcPct val="117000"/>
              </a:lnSpc>
              <a:buSzPct val="100000"/>
              <a:buChar char="•"/>
            </a:pPr>
            <a:r>
              <a:rPr lang="en-US" sz="1800" dirty="0">
                <a:solidFill>
                  <a:schemeClr val="bg1"/>
                </a:solidFill>
                <a:latin typeface="Times New Roman" panose="02020603050405020304" pitchFamily="18" charset="0"/>
                <a:ea typeface="Hanken Grotesk" pitchFamily="34" charset="-122"/>
                <a:cs typeface="Times New Roman" panose="02020603050405020304" pitchFamily="18" charset="0"/>
              </a:rPr>
              <a:t>Alumni mentor network and employer partnerships</a:t>
            </a:r>
            <a:endParaRPr lang="en-US" sz="1800" dirty="0">
              <a:solidFill>
                <a:schemeClr val="bg1"/>
              </a:solidFill>
            </a:endParaRPr>
          </a:p>
          <a:p>
            <a:pPr marL="365760" indent="-365760" algn="l">
              <a:lnSpc>
                <a:spcPct val="117000"/>
              </a:lnSpc>
              <a:buSzPct val="100000"/>
              <a:buChar char="•"/>
            </a:pPr>
            <a:r>
              <a:rPr lang="en-US" sz="1800" dirty="0">
                <a:solidFill>
                  <a:schemeClr val="bg1"/>
                </a:solidFill>
                <a:latin typeface="Times New Roman" panose="02020603050405020304" pitchFamily="18" charset="0"/>
                <a:ea typeface="Hanken Grotesk" pitchFamily="34" charset="-122"/>
                <a:cs typeface="Times New Roman" panose="02020603050405020304" pitchFamily="18" charset="0"/>
              </a:rPr>
              <a:t>Pro Mentor verified badge</a:t>
            </a:r>
            <a:endParaRPr lang="en-US" sz="1800" dirty="0">
              <a:solidFill>
                <a:schemeClr val="bg1"/>
              </a:solidFill>
            </a:endParaRPr>
          </a:p>
          <a:p>
            <a:pPr marL="365760" indent="-365760" algn="l">
              <a:lnSpc>
                <a:spcPct val="117000"/>
              </a:lnSpc>
              <a:buSzPct val="100000"/>
              <a:buChar char="•"/>
            </a:pPr>
            <a:r>
              <a:rPr lang="en-US" sz="1800" dirty="0">
                <a:solidFill>
                  <a:schemeClr val="bg1"/>
                </a:solidFill>
                <a:latin typeface="Times New Roman" panose="02020603050405020304" pitchFamily="18" charset="0"/>
                <a:ea typeface="Hanken Grotesk" pitchFamily="34" charset="-122"/>
                <a:cs typeface="Times New Roman" panose="02020603050405020304" pitchFamily="18" charset="0"/>
              </a:rPr>
              <a:t>Institutional analytics dashboards</a:t>
            </a:r>
            <a:endParaRPr lang="en-US" sz="1800" dirty="0">
              <a:solidFill>
                <a:schemeClr val="bg1"/>
              </a:solidFill>
            </a:endParaRPr>
          </a:p>
          <a:p>
            <a:pPr marL="365760" indent="-365760" algn="l">
              <a:lnSpc>
                <a:spcPct val="117000"/>
              </a:lnSpc>
              <a:buSzPct val="100000"/>
              <a:buChar char="•"/>
            </a:pPr>
            <a:r>
              <a:rPr lang="en-US" sz="1800" dirty="0">
                <a:solidFill>
                  <a:schemeClr val="bg1"/>
                </a:solidFill>
                <a:latin typeface="Times New Roman" panose="02020603050405020304" pitchFamily="18" charset="0"/>
                <a:ea typeface="Hanken Grotesk" pitchFamily="34" charset="-122"/>
                <a:cs typeface="Times New Roman" panose="02020603050405020304" pitchFamily="18" charset="0"/>
              </a:rPr>
              <a:t>Bundled roadmap services: certifications, clubs, workshops</a:t>
            </a:r>
            <a:endParaRPr lang="en-US" sz="18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901" y="6559153"/>
            <a:ext cx="1071833" cy="255984"/>
          </a:xfrm>
          <a:prstGeom prst="rect">
            <a:avLst/>
          </a:prstGeom>
        </p:spPr>
      </p:pic>
      <p:sp>
        <p:nvSpPr>
          <p:cNvPr id="3" name="Shape 0"/>
          <p:cNvSpPr/>
          <p:nvPr/>
        </p:nvSpPr>
        <p:spPr>
          <a:xfrm>
            <a:off x="0" y="0"/>
            <a:ext cx="6095848" cy="6858099"/>
          </a:xfrm>
          <a:prstGeom prst="rect">
            <a:avLst/>
          </a:prstGeom>
          <a:solidFill>
            <a:srgbClr val="FF8424"/>
          </a:solidFill>
          <a:ln/>
        </p:spPr>
      </p:sp>
      <p:sp>
        <p:nvSpPr>
          <p:cNvPr id="4" name="Shape 1"/>
          <p:cNvSpPr/>
          <p:nvPr/>
        </p:nvSpPr>
        <p:spPr>
          <a:xfrm>
            <a:off x="6083148" y="-12700"/>
            <a:ext cx="6095848" cy="6858099"/>
          </a:xfrm>
          <a:prstGeom prst="rect">
            <a:avLst/>
          </a:prstGeom>
          <a:solidFill>
            <a:srgbClr val="16171D"/>
          </a:solidFill>
          <a:ln/>
        </p:spPr>
      </p:sp>
      <p:sp>
        <p:nvSpPr>
          <p:cNvPr id="5" name="Text 2"/>
          <p:cNvSpPr/>
          <p:nvPr/>
        </p:nvSpPr>
        <p:spPr>
          <a:xfrm>
            <a:off x="609585" y="609600"/>
            <a:ext cx="6239711" cy="794445"/>
          </a:xfrm>
          <a:prstGeom prst="rect">
            <a:avLst/>
          </a:prstGeom>
          <a:noFill/>
          <a:ln/>
        </p:spPr>
        <p:txBody>
          <a:bodyPr wrap="none" lIns="0" tIns="0" rIns="0" bIns="0" rtlCol="0" anchor="t"/>
          <a:lstStyle/>
          <a:p>
            <a:pPr marL="0" indent="0" algn="l">
              <a:lnSpc>
                <a:spcPct val="77000"/>
              </a:lnSpc>
              <a:buNone/>
            </a:pPr>
            <a:r>
              <a:rPr lang="en-US" sz="6800" dirty="0">
                <a:solidFill>
                  <a:srgbClr val="000000"/>
                </a:solidFill>
                <a:latin typeface="Times New Roman" panose="02020603050405020304" pitchFamily="18" charset="0"/>
                <a:ea typeface="Big Shoulders ExtraBold" pitchFamily="34" charset="-122"/>
                <a:cs typeface="Times New Roman" panose="02020603050405020304" pitchFamily="18" charset="0"/>
              </a:rPr>
              <a:t>THANK YOU</a:t>
            </a:r>
            <a:endParaRPr lang="en-US" sz="6800" dirty="0"/>
          </a:p>
        </p:txBody>
      </p:sp>
      <p:sp>
        <p:nvSpPr>
          <p:cNvPr id="6" name="Text 3"/>
          <p:cNvSpPr/>
          <p:nvPr/>
        </p:nvSpPr>
        <p:spPr>
          <a:xfrm>
            <a:off x="523123" y="1559170"/>
            <a:ext cx="4921127" cy="321270"/>
          </a:xfrm>
          <a:prstGeom prst="rect">
            <a:avLst/>
          </a:prstGeom>
          <a:noFill/>
          <a:ln/>
        </p:spPr>
        <p:txBody>
          <a:bodyPr wrap="none" lIns="0" tIns="0" rIns="0" bIns="0" rtlCol="0" anchor="t"/>
          <a:lstStyle/>
          <a:p>
            <a:pPr marL="0" indent="0" algn="l">
              <a:lnSpc>
                <a:spcPct val="96000"/>
              </a:lnSpc>
              <a:buNone/>
            </a:pPr>
            <a:r>
              <a:rPr lang="en-US" sz="24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From a UIU student platform to a scalable  </a:t>
            </a:r>
            <a:r>
              <a:rPr lang="en-US" sz="2400" b="1" kern="100" spc="-11" dirty="0">
                <a:solidFill>
                  <a:schemeClr val="accent2"/>
                </a:solidFill>
                <a:latin typeface="Times New Roman" panose="02020603050405020304" pitchFamily="18" charset="0"/>
                <a:ea typeface="Hanken Grotesk Bold" pitchFamily="34" charset="-122"/>
                <a:cs typeface="Times New Roman" panose="02020603050405020304" pitchFamily="18" charset="0"/>
              </a:rPr>
              <a:t>campus ecosystem</a:t>
            </a:r>
            <a:r>
              <a:rPr lang="en-US" sz="2400" b="1" kern="100" spc="-11" dirty="0">
                <a:solidFill>
                  <a:srgbClr val="000000"/>
                </a:solidFill>
                <a:latin typeface="Times New Roman" panose="02020603050405020304" pitchFamily="18" charset="0"/>
                <a:ea typeface="Hanken Grotesk Bold" pitchFamily="34" charset="-122"/>
                <a:cs typeface="Times New Roman" panose="02020603050405020304" pitchFamily="18" charset="0"/>
              </a:rPr>
              <a:t>.</a:t>
            </a:r>
            <a:endParaRPr lang="en-US" sz="2400" dirty="0"/>
          </a:p>
        </p:txBody>
      </p:sp>
      <p:sp>
        <p:nvSpPr>
          <p:cNvPr id="7" name="Text 4"/>
          <p:cNvSpPr/>
          <p:nvPr/>
        </p:nvSpPr>
        <p:spPr>
          <a:xfrm>
            <a:off x="609585" y="4445000"/>
            <a:ext cx="4921127" cy="1617563"/>
          </a:xfrm>
          <a:prstGeom prst="rect">
            <a:avLst/>
          </a:prstGeom>
          <a:noFill/>
          <a:ln/>
        </p:spPr>
        <p:txBody>
          <a:bodyPr wrap="square" lIns="0" tIns="0" rIns="0" bIns="0" rtlCol="0" anchor="t">
            <a:noAutofit/>
          </a:bodyPr>
          <a:lstStyle/>
          <a:p>
            <a:pPr marL="0" indent="0" algn="l">
              <a:lnSpc>
                <a:spcPct val="117000"/>
              </a:lnSpc>
              <a:buNone/>
            </a:pPr>
            <a:r>
              <a:rPr lang="en-US" sz="1600" b="1" dirty="0">
                <a:solidFill>
                  <a:srgbClr val="000000"/>
                </a:solidFill>
                <a:latin typeface="Times New Roman" panose="02020603050405020304" pitchFamily="18" charset="0"/>
                <a:ea typeface="Hanken Grotesk" pitchFamily="34" charset="-122"/>
                <a:cs typeface="Times New Roman" panose="02020603050405020304" pitchFamily="18" charset="0"/>
              </a:rPr>
              <a:t>Team Syntax Squad</a:t>
            </a:r>
            <a:endParaRPr lang="en-US" sz="1600" b="1" dirty="0"/>
          </a:p>
          <a:p>
            <a:pPr marL="0" indent="0" algn="l">
              <a:lnSpc>
                <a:spcPct val="117000"/>
              </a:lnSpc>
              <a:buNone/>
            </a:pPr>
            <a:r>
              <a:rPr lang="en-US" sz="1600" b="1" dirty="0">
                <a:solidFill>
                  <a:srgbClr val="000000"/>
                </a:solidFill>
                <a:latin typeface="Times New Roman" panose="02020603050405020304" pitchFamily="18" charset="0"/>
                <a:ea typeface="Hanken Grotesk" pitchFamily="34" charset="-122"/>
                <a:cs typeface="Times New Roman" panose="02020603050405020304" pitchFamily="18" charset="0"/>
              </a:rPr>
              <a:t> </a:t>
            </a:r>
            <a:endParaRPr lang="en-US" sz="1600" b="1" dirty="0"/>
          </a:p>
          <a:p>
            <a:pPr marL="0" indent="0" algn="l">
              <a:lnSpc>
                <a:spcPct val="117000"/>
              </a:lnSpc>
              <a:buNone/>
            </a:pPr>
            <a:r>
              <a:rPr lang="en-US" sz="1600" b="1" dirty="0">
                <a:solidFill>
                  <a:srgbClr val="000000"/>
                </a:solidFill>
                <a:latin typeface="Times New Roman" panose="02020603050405020304" pitchFamily="18" charset="0"/>
                <a:ea typeface="Hanken Grotesk" pitchFamily="34" charset="-122"/>
                <a:cs typeface="Times New Roman" panose="02020603050405020304" pitchFamily="18" charset="0"/>
              </a:rPr>
              <a:t>UIU Department of CSE</a:t>
            </a:r>
            <a:endParaRPr lang="en-US" sz="1600" b="1" dirty="0"/>
          </a:p>
          <a:p>
            <a:pPr marL="0" indent="0" algn="l">
              <a:lnSpc>
                <a:spcPct val="117000"/>
              </a:lnSpc>
              <a:buNone/>
            </a:pPr>
            <a:r>
              <a:rPr lang="en-US" sz="1600" b="1" dirty="0">
                <a:solidFill>
                  <a:srgbClr val="000000"/>
                </a:solidFill>
                <a:latin typeface="Times New Roman" panose="02020603050405020304" pitchFamily="18" charset="0"/>
                <a:ea typeface="Hanken Grotesk" pitchFamily="34" charset="-122"/>
                <a:cs typeface="Times New Roman" panose="02020603050405020304" pitchFamily="18" charset="0"/>
              </a:rPr>
              <a:t> </a:t>
            </a:r>
            <a:endParaRPr lang="en-US" sz="1600" b="1" dirty="0"/>
          </a:p>
          <a:p>
            <a:pPr marL="0" indent="0" algn="l">
              <a:lnSpc>
                <a:spcPct val="117000"/>
              </a:lnSpc>
              <a:buNone/>
            </a:pPr>
            <a:r>
              <a:rPr lang="en-US" sz="1600" b="1" dirty="0">
                <a:solidFill>
                  <a:srgbClr val="000000"/>
                </a:solidFill>
                <a:latin typeface="Times New Roman" panose="02020603050405020304" pitchFamily="18" charset="0"/>
                <a:ea typeface="Hanken Grotesk" pitchFamily="34" charset="-122"/>
                <a:cs typeface="Times New Roman" panose="02020603050405020304" pitchFamily="18" charset="0"/>
              </a:rPr>
              <a:t>Faculty teacher Rejwan Ahmed</a:t>
            </a:r>
            <a:endParaRPr lang="en-US" sz="1600" b="1" dirty="0"/>
          </a:p>
          <a:p>
            <a:pPr marL="0" indent="0" algn="l">
              <a:lnSpc>
                <a:spcPct val="117000"/>
              </a:lnSpc>
              <a:buNone/>
            </a:pPr>
            <a:r>
              <a:rPr lang="en-US" sz="1600" b="1" dirty="0">
                <a:solidFill>
                  <a:srgbClr val="000000"/>
                </a:solidFill>
                <a:latin typeface="Times New Roman" panose="02020603050405020304" pitchFamily="18" charset="0"/>
                <a:ea typeface="Hanken Grotesk" pitchFamily="34" charset="-122"/>
                <a:cs typeface="Times New Roman" panose="02020603050405020304" pitchFamily="18" charset="0"/>
              </a:rPr>
              <a:t> </a:t>
            </a:r>
            <a:endParaRPr lang="en-US" sz="1600" b="1" dirty="0"/>
          </a:p>
        </p:txBody>
      </p:sp>
      <p:sp>
        <p:nvSpPr>
          <p:cNvPr id="8" name="Shape 5"/>
          <p:cNvSpPr/>
          <p:nvPr/>
        </p:nvSpPr>
        <p:spPr>
          <a:xfrm>
            <a:off x="6476838" y="3048000"/>
            <a:ext cx="5333867" cy="467320"/>
          </a:xfrm>
          <a:prstGeom prst="roundRect">
            <a:avLst>
              <a:gd name="adj" fmla="val 7337"/>
            </a:avLst>
          </a:prstGeom>
          <a:solidFill>
            <a:srgbClr val="16171D"/>
          </a:solidFill>
          <a:ln/>
        </p:spPr>
      </p:sp>
      <p:pic>
        <p:nvPicPr>
          <p:cNvPr id="12" name="Picture 11">
            <a:extLst>
              <a:ext uri="{FF2B5EF4-FFF2-40B4-BE49-F238E27FC236}">
                <a16:creationId xmlns:a16="http://schemas.microsoft.com/office/drawing/2014/main" id="{14C3DAB9-AB2A-218B-322C-327667E9CA26}"/>
              </a:ext>
            </a:extLst>
          </p:cNvPr>
          <p:cNvPicPr>
            <a:picLocks noChangeAspect="1"/>
          </p:cNvPicPr>
          <p:nvPr/>
        </p:nvPicPr>
        <p:blipFill>
          <a:blip r:embed="rId4"/>
          <a:stretch>
            <a:fillRect/>
          </a:stretch>
        </p:blipFill>
        <p:spPr>
          <a:xfrm>
            <a:off x="6083148" y="2235200"/>
            <a:ext cx="6174401" cy="46101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1098</Words>
  <Application>Microsoft Office PowerPoint</Application>
  <PresentationFormat>Widescreen</PresentationFormat>
  <Paragraphs>163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Nur Hossain Nazim</dc:creator>
  <cp:lastModifiedBy>Nur Hossain Nazim</cp:lastModifiedBy>
  <cp:revision>4</cp:revision>
  <dcterms:created xsi:type="dcterms:W3CDTF">2026-10-02T16:00:11Z</dcterms:created>
  <dcterms:modified xsi:type="dcterms:W3CDTF">2026-10-02T18:15:05Z</dcterms:modified>
</cp:coreProperties>
</file>